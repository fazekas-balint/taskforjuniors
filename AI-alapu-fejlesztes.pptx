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1950"/>
  <p:notesSz cx="6858000" cy="9144000"/>
  <p:embeddedFontLst>
    <p:embeddedFont>
      <p:font typeface="Quattrocento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gHUm7h/VjxxM+1+3r721zYbuck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italic.fntdata"/><Relationship Id="rId3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Quattrocen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>
            <a:gsLst>
              <a:gs pos="0">
                <a:srgbClr val="080B12"/>
              </a:gs>
              <a:gs pos="100000">
                <a:srgbClr val="18142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955279" y="-1920240"/>
            <a:ext cx="6035040" cy="6035040"/>
          </a:xfrm>
          <a:prstGeom prst="ellipse">
            <a:avLst/>
          </a:prstGeom>
          <a:solidFill>
            <a:srgbClr val="2B1D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235440" y="-640080"/>
            <a:ext cx="3474720" cy="3474720"/>
          </a:xfrm>
          <a:prstGeom prst="ellipse">
            <a:avLst/>
          </a:prstGeom>
          <a:solidFill>
            <a:srgbClr val="412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1C1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503920" y="4480560"/>
            <a:ext cx="3108960" cy="3108960"/>
          </a:xfrm>
          <a:prstGeom prst="ellipse">
            <a:avLst/>
          </a:prstGeom>
          <a:solidFill>
            <a:srgbClr val="1222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141732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SZAKMAI GYAKORLAT · ONBOARDING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810512"/>
            <a:ext cx="8229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</a:t>
            </a:r>
            <a:endParaRPr/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fejlesztés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77240" y="4224528"/>
            <a:ext cx="1005840" cy="5029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4498848"/>
            <a:ext cx="7680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Előnyök, hátrányok, prompt engineering és AI engineering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777240" y="5742432"/>
            <a:ext cx="2212848" cy="310896"/>
          </a:xfrm>
          <a:prstGeom prst="roundRect">
            <a:avLst>
              <a:gd fmla="val 45000" name="adj"/>
            </a:avLst>
          </a:prstGeom>
          <a:solidFill>
            <a:srgbClr val="3220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77240" y="5806440"/>
            <a:ext cx="22128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ELŐNY / HÁTRÁNY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3172968" y="5742432"/>
            <a:ext cx="2212848" cy="310896"/>
          </a:xfrm>
          <a:prstGeom prst="roundRect">
            <a:avLst>
              <a:gd fmla="val 45000" name="adj"/>
            </a:avLst>
          </a:prstGeom>
          <a:solidFill>
            <a:srgbClr val="1830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172968" y="5806440"/>
            <a:ext cx="22128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ENG.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5568696" y="5742432"/>
            <a:ext cx="2212848" cy="310896"/>
          </a:xfrm>
          <a:prstGeom prst="roundRect">
            <a:avLst>
              <a:gd fmla="val 45000" name="adj"/>
            </a:avLst>
          </a:prstGeom>
          <a:solidFill>
            <a:srgbClr val="2423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568696" y="5806440"/>
            <a:ext cx="22128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A68B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NAPIREND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Miről lesz szó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Öt blokk. A vége felé egyre kevesebb elmélet és egyre több konkrétum.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777240" y="2203704"/>
            <a:ext cx="10637489" cy="63459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777240" y="2203704"/>
            <a:ext cx="41148" cy="634593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033271" y="2347264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33271" y="2388412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527048" y="2374696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 tartunk ma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544568" y="2331720"/>
            <a:ext cx="6641561" cy="378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 változott meg a fejlesztői munkában — és mi nem.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777240" y="2984601"/>
            <a:ext cx="10637489" cy="63459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77240" y="2984601"/>
            <a:ext cx="41148" cy="634593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033271" y="3128162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033271" y="316931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527048" y="3155594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Előnyök és hátrányok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4544568" y="3112617"/>
            <a:ext cx="6641561" cy="378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 nyersz vele időt, és hol fizeted vissza kamatostul.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777240" y="3765499"/>
            <a:ext cx="10637489" cy="63459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777240" y="3765499"/>
            <a:ext cx="41148" cy="634593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33271" y="3909059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033271" y="3950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527048" y="3936491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engineering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544568" y="3893515"/>
            <a:ext cx="6641561" cy="378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napi szerszám: hogyan kérdezz úgy, hogy használható válasz jöjjön.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777240" y="4546396"/>
            <a:ext cx="10637489" cy="63459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77240" y="4546396"/>
            <a:ext cx="41148" cy="634593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1033271" y="4689957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033271" y="4731105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527048" y="4717389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4544568" y="4674412"/>
            <a:ext cx="6641561" cy="378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Amikor nem használod, hanem építed. RAG, evals, költség, biztonság.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777240" y="5327294"/>
            <a:ext cx="10637489" cy="63459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777240" y="5327294"/>
            <a:ext cx="41148" cy="634593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1033271" y="5470855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1033271" y="5512003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527048" y="5498287"/>
            <a:ext cx="2834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Napi gyakorlat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4507993" y="5537798"/>
            <a:ext cx="664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Workflow, tíz legfontosabb szabály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KONTEXTUS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Három dolog, ami tényleg megváltozott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Számok helyett állítások — ezeket a saját munkádon fogod ellenőrizni.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777240" y="2185416"/>
            <a:ext cx="3362949" cy="37764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777240" y="2185416"/>
            <a:ext cx="3362949" cy="4572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088136" y="2551176"/>
            <a:ext cx="402336" cy="402336"/>
          </a:xfrm>
          <a:prstGeom prst="ellipse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088136" y="26243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1088136" y="3172968"/>
            <a:ext cx="274115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kódírás már nem a szűk keresztmetszet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1088136" y="4178808"/>
            <a:ext cx="2741157" cy="1490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 olvasás, az ellenőrzés és a döntés lett a szűk keresztmetszet. Legenerálni valamit könnyű; felelősséget vállalni érte ugyanolyan nehéz, mint eddig.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4414509" y="2185416"/>
            <a:ext cx="3362949" cy="37764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414509" y="2185416"/>
            <a:ext cx="3362949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4725405" y="2551176"/>
            <a:ext cx="402336" cy="402336"/>
          </a:xfrm>
          <a:prstGeom prst="ellipse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4725405" y="26243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4725405" y="3172968"/>
            <a:ext cx="274115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 asszisztens beköltözött mindenhová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4725405" y="4178808"/>
            <a:ext cx="2741157" cy="1490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Nem külön ablakban él: ott van az IDE-ben, a terminálban, a code review-ban és a CI-ban. Nem eszköz, amit elindítasz — környezet, amiben dolgozol.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8051779" y="2185416"/>
            <a:ext cx="3362949" cy="37764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051779" y="2185416"/>
            <a:ext cx="3362949" cy="45720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8362675" y="2551176"/>
            <a:ext cx="402336" cy="402336"/>
          </a:xfrm>
          <a:prstGeom prst="ellipse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8362675" y="26243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8362675" y="3172968"/>
            <a:ext cx="274115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Új szerep született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8362675" y="4178808"/>
            <a:ext cx="2741157" cy="1490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Aki nem csak használja a modellt, hanem termékbe építi: prompt, kontextus, mérés, költség, guardrail. Ezt hívjuk AI engineeringnek.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>
            <a:gsLst>
              <a:gs pos="0">
                <a:srgbClr val="0B0F18"/>
              </a:gs>
              <a:gs pos="100000">
                <a:srgbClr val="231A1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14400" y="141732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0" u="none" cap="none" strike="noStrike">
                <a:solidFill>
                  <a:srgbClr val="542F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960120" y="3246120"/>
            <a:ext cx="97230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Előnyök és hátrányok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960120" y="4315968"/>
            <a:ext cx="822960" cy="4572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960120" y="4553712"/>
            <a:ext cx="76589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Reálisan. Nem hype, nem is fanyalgás — hanem az, amit egy éles projekten tapasztalni fogsz.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ELŐNYÖK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Amiben tényleg segít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közös nevező: a rutin, az ismétlés és az induló vázlat.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777240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77240" y="2185416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051560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1051560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1490472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Sebesség a rutinon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1051560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Boilerplate, CRUD, tesztváz, migráció, DTO, mapper. Ami eddig fél nap gépelés volt, az most néhány perc átolvasás.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4408413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408413" y="2185416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682733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4682733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5121645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Alacsonyabb belépő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4682733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Ismeretlen nyelv vagy framework: van kitől kérdezni éjjel is, és nem kell egy senior idejét kérni triviális dolgokért.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8039587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8039587" y="2185416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8313907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8313907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8752819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Élő dokumentáció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8313907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„Mit csinál ez a 400 soros metódus?” — magyarul, a konkrét kódra hivatkozva. Legacy rendszerbe ez a legjobb belépő.</a:t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777240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777240" y="4201667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051560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1051560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1490472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Kevesebb kontextusváltás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1051560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Nem kell hat Stack Overflow fül és három doksi. A fókusz a szerkesztőben marad, ami önmagában rengeteg idő.</a:t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4408413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408413" y="4201667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682733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4682733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5121645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Több kísérlet, kisebb áron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4682733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Három megoldásvariánst megnézni már nem három nap, hanem félóra. Ez jobb döntéseket jelent, nem csak gyorsabbat.</a:t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8039587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8039587" y="4201667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8313907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8313907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8752819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Rutinmunka kiszervezése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8313907" y="5006339"/>
            <a:ext cx="282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Commit üzenet, changelog, regex, SQL, tesztadat, JSON-átalakítás. Nem izgalmas, de sok időt vi</a:t>
            </a:r>
            <a:r>
              <a:rPr lang="en-US" sz="1100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tt</a:t>
            </a: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most már nem.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HÁTRÁNYOK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Amiért óvatosnak kell lenni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Egyik sem elméleti kockázat. Mind a hat meg fog történni veled.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777240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77240" y="2185416"/>
            <a:ext cx="41148" cy="17602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1051560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1051560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1490472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Magabiztos tévedés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051560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hallucináció nem hibaüzenet formájában jön. Létező API-nak látszik, jó a névkonvenciója, és nem létezik.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408413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408413" y="2185416"/>
            <a:ext cx="41148" cy="17602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682733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4682733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5121645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Elavult tudás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4682733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modell nem a ti verziótokat ismeri: deprecated hívások, régi konfigszintaxis. Mindig add meg a verziót.</a:t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8039587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8039587" y="2185416"/>
            <a:ext cx="41148" cy="17602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8313907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8313907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8752819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Kompetencia-erózió</a:t>
            </a:r>
            <a:endParaRPr/>
          </a:p>
        </p:txBody>
      </p:sp>
      <p:sp>
        <p:nvSpPr>
          <p:cNvPr id="264" name="Google Shape;264;p6"/>
          <p:cNvSpPr txBox="1"/>
          <p:nvPr/>
        </p:nvSpPr>
        <p:spPr>
          <a:xfrm>
            <a:off x="8313907" y="2990088"/>
            <a:ext cx="282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 soha nem küzdesz meg egy problémával, nem is tanulod meg. Gyakornokként ez a leg</a:t>
            </a:r>
            <a:r>
              <a:rPr lang="en-US" sz="1100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nagyobb</a:t>
            </a: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hátrány.</a:t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777240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777240" y="4201667"/>
            <a:ext cx="41148" cy="17602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051560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1051560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1490472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Review-adósság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1051560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kód gyorsabban készül, mint ahogy bárki átolvassa. Bekerül a repóba olyan is, amit senki nem értett.</a:t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4408413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408413" y="4201667"/>
            <a:ext cx="41148" cy="17602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4682733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4682733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5121645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Biztonság és jogi kérdés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4682733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 megy ki a promptban? Éles adat, kulcs, ügyfélnév? És a visszakapott kód milyen licenc alatt született?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8039587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8039587" y="4201667"/>
            <a:ext cx="41148" cy="17602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8313907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8313907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8752819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Csendes komplexitás</a:t>
            </a:r>
            <a:endParaRPr/>
          </a:p>
        </p:txBody>
      </p:sp>
      <p:sp>
        <p:nvSpPr>
          <p:cNvPr id="282" name="Google Shape;282;p6"/>
          <p:cNvSpPr txBox="1"/>
          <p:nvPr/>
        </p:nvSpPr>
        <p:spPr>
          <a:xfrm>
            <a:off x="8313907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Működik, de senki nem tudja, miért. Ez a fajta kód nem hibázik azonnal — két hónap múlva hibázik, éles alatt.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LEGFONTOSABB DIA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70%-os probléma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 AI-jal az első 70% gyanúsan könnyen megvan. A maradék 30% ugyanannyi idő, mint eddig — és pont ott kell tudni, amit a modell nem tud.</a:t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777240" y="2724911"/>
            <a:ext cx="10637489" cy="713232"/>
          </a:xfrm>
          <a:prstGeom prst="roundRect">
            <a:avLst>
              <a:gd fmla="val 120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777240" y="2724911"/>
            <a:ext cx="7446242" cy="713232"/>
          </a:xfrm>
          <a:prstGeom prst="roundRect">
            <a:avLst>
              <a:gd fmla="val 12000" name="adj"/>
            </a:avLst>
          </a:prstGeom>
          <a:gradFill>
            <a:gsLst>
              <a:gs pos="0">
                <a:srgbClr val="398277"/>
              </a:gs>
              <a:gs pos="100000">
                <a:srgbClr val="56CBB3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1051560" y="2944368"/>
            <a:ext cx="689760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 → 70%   ·   az AI vázlata</a:t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8497802" y="2944368"/>
            <a:ext cx="273404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 → 100%   ·   a te munkád</a:t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8223482" y="2578607"/>
            <a:ext cx="27432" cy="1005840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777240" y="3941063"/>
            <a:ext cx="3375141" cy="1572768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777240" y="3941063"/>
            <a:ext cx="41148" cy="1572768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1051560" y="4197096"/>
            <a:ext cx="282650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Amit az AI ad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1051560" y="4654296"/>
            <a:ext cx="2826501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Első vázlat, ismert minta, gyors nyersanyag. Értékes — de nyersanyag.</a:t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408413" y="3941063"/>
            <a:ext cx="3375141" cy="1572768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408413" y="3941063"/>
            <a:ext cx="41148" cy="1572768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4682733" y="4197096"/>
            <a:ext cx="282650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Amit a maradék 30% jelent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4682733" y="4654296"/>
            <a:ext cx="2826501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 case, integráció, teljesítmény, hibakezelés, migráció, monitorozás, üzemeltetés.</a:t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8039587" y="3941063"/>
            <a:ext cx="3375141" cy="1572768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8039587" y="3941063"/>
            <a:ext cx="41148" cy="157276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8313907" y="4197096"/>
            <a:ext cx="282650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Amit csak te adhatsz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8313907" y="4654296"/>
            <a:ext cx="2826501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Döntés, üzleti kontextus, felelősség. Ezt nem lehet promptolni, és nem is fogják kiszervezni.</a:t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777240" y="5687568"/>
            <a:ext cx="106374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 azt kérdezd: „kész van?”  ·  Azt kérdezd: „mi az, ami még nincs kész?”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>
            <a:gsLst>
              <a:gs pos="0">
                <a:srgbClr val="0B0F18"/>
              </a:gs>
              <a:gs pos="100000">
                <a:srgbClr val="132429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914400" y="141732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0" u="none" cap="none" strike="noStrike">
                <a:solidFill>
                  <a:srgbClr val="244E4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960120" y="3246120"/>
            <a:ext cx="97230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engineering</a:t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960120" y="4315968"/>
            <a:ext cx="822960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960120" y="4553712"/>
            <a:ext cx="76589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napi szerszám. Nem varázsszavak gyűjteménye — hanem az, hogy pontosan meg tudod fogalmazni, mit akarsz.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ALAPOK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 a prompt engineering — és mi nem</a:t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777240" y="2121408"/>
            <a:ext cx="5163296" cy="2514600"/>
          </a:xfrm>
          <a:prstGeom prst="roundRect">
            <a:avLst>
              <a:gd fmla="val 5500" name="adj"/>
            </a:avLst>
          </a:prstGeom>
          <a:solidFill>
            <a:srgbClr val="24222F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777240" y="2121408"/>
            <a:ext cx="41148" cy="2514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1088136" y="2414016"/>
            <a:ext cx="4541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NEM EZ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1088136" y="28529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1435607" y="2862072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Titkos varázsszavak és „kérlek szépen”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1088136" y="32735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1435607" y="3282696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Letöltött prompt-gyűjtemények copy-paste-elése</a:t>
            </a:r>
            <a:endParaRPr/>
          </a:p>
        </p:txBody>
      </p:sp>
      <p:sp>
        <p:nvSpPr>
          <p:cNvPr id="345" name="Google Shape;345;p10"/>
          <p:cNvSpPr txBox="1"/>
          <p:nvPr/>
        </p:nvSpPr>
        <p:spPr>
          <a:xfrm>
            <a:off x="1088136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1435607" y="3703320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Minél hosszabb prompt, annál jobb</a:t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1088136" y="4114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348" name="Google Shape;348;p10"/>
          <p:cNvSpPr txBox="1"/>
          <p:nvPr/>
        </p:nvSpPr>
        <p:spPr>
          <a:xfrm>
            <a:off x="1435607" y="4123944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Egyszer megírod, és onnantól működik</a:t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6251432" y="2121408"/>
            <a:ext cx="5163296" cy="2514600"/>
          </a:xfrm>
          <a:prstGeom prst="roundRect">
            <a:avLst>
              <a:gd fmla="val 5500" name="adj"/>
            </a:avLst>
          </a:prstGeom>
          <a:solidFill>
            <a:srgbClr val="1A2934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251432" y="2121408"/>
            <a:ext cx="41148" cy="251460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6562328" y="2414016"/>
            <a:ext cx="4541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HANEM EZ</a:t>
            </a:r>
            <a:endParaRPr/>
          </a:p>
        </p:txBody>
      </p:sp>
      <p:sp>
        <p:nvSpPr>
          <p:cNvPr id="352" name="Google Shape;352;p10"/>
          <p:cNvSpPr txBox="1"/>
          <p:nvPr/>
        </p:nvSpPr>
        <p:spPr>
          <a:xfrm>
            <a:off x="6562328" y="28529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6909800" y="2862072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Pontos feladatkijelölés: mit, min, mihez képest</a:t>
            </a:r>
            <a:endParaRPr/>
          </a:p>
        </p:txBody>
      </p:sp>
      <p:sp>
        <p:nvSpPr>
          <p:cNvPr id="354" name="Google Shape;354;p10"/>
          <p:cNvSpPr txBox="1"/>
          <p:nvPr/>
        </p:nvSpPr>
        <p:spPr>
          <a:xfrm>
            <a:off x="6562328" y="32735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355" name="Google Shape;355;p10"/>
          <p:cNvSpPr txBox="1"/>
          <p:nvPr/>
        </p:nvSpPr>
        <p:spPr>
          <a:xfrm>
            <a:off x="6909800" y="3282696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releváns kontextus tudatos összeállítása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562328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6909800" y="3703320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kimenet formájának előírása</a:t>
            </a:r>
            <a:endParaRPr/>
          </a:p>
        </p:txBody>
      </p:sp>
      <p:sp>
        <p:nvSpPr>
          <p:cNvPr id="358" name="Google Shape;358;p10"/>
          <p:cNvSpPr txBox="1"/>
          <p:nvPr/>
        </p:nvSpPr>
        <p:spPr>
          <a:xfrm>
            <a:off x="6562328" y="4114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359" name="Google Shape;359;p10"/>
          <p:cNvSpPr txBox="1"/>
          <p:nvPr/>
        </p:nvSpPr>
        <p:spPr>
          <a:xfrm>
            <a:off x="6909800" y="4123944"/>
            <a:ext cx="41574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Iteráció: javítom a kérdést, nem a választ</a:t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77240" y="4910328"/>
            <a:ext cx="10637489" cy="1024128"/>
          </a:xfrm>
          <a:prstGeom prst="roundRect">
            <a:avLst>
              <a:gd fmla="val 6000" name="adj"/>
            </a:avLst>
          </a:prstGeom>
          <a:gradFill>
            <a:gsLst>
              <a:gs pos="0">
                <a:srgbClr val="162A2E"/>
              </a:gs>
              <a:gs pos="100000">
                <a:srgbClr val="1F1F35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1234440" y="5129784"/>
            <a:ext cx="97230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„A jó prompt nem trükk, hanem jól megírt specifikáció.”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1234440" y="5568696"/>
            <a:ext cx="972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 </a:t>
            </a:r>
            <a:r>
              <a:rPr lang="en-US" sz="1200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másnak nem tudod elmagyarázni a feladatot a </a:t>
            </a:r>
            <a:r>
              <a:rPr lang="en-US" sz="1200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</a:t>
            </a:r>
            <a:r>
              <a:rPr lang="en-US" sz="1200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sem lesz jó</a:t>
            </a:r>
            <a:r>
              <a:rPr b="0" i="0" lang="en-US" sz="12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ANATÓMIA</a:t>
            </a:r>
            <a:endParaRPr/>
          </a:p>
        </p:txBody>
      </p:sp>
      <p:sp>
        <p:nvSpPr>
          <p:cNvPr id="369" name="Google Shape;369;p11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jó prompt öt építőeleme</a:t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374" name="Google Shape;374;p11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 valami nem működik, szinte biztosan az egyik hiányzik. Ez a hibakeresési checklistád.</a:t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777240" y="2185416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777240" y="2185416"/>
            <a:ext cx="41148" cy="645566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1033271" y="2334463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1033271" y="2375611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1527048" y="2361895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Szerep / keret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3904488" y="2313432"/>
            <a:ext cx="728164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Kinek és milyen szemmel? „Senior Laravel-fejlesztő vagy, code review-t írsz.” Ez állítja be a szókincset és a mélységet.</a:t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777240" y="2968142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777240" y="2968142"/>
            <a:ext cx="41148" cy="645566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1033271" y="3117189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1033271" y="3158337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85" name="Google Shape;385;p11"/>
          <p:cNvSpPr txBox="1"/>
          <p:nvPr/>
        </p:nvSpPr>
        <p:spPr>
          <a:xfrm>
            <a:off x="1527048" y="3144621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Feladat</a:t>
            </a:r>
            <a:endParaRPr/>
          </a:p>
        </p:txBody>
      </p:sp>
      <p:sp>
        <p:nvSpPr>
          <p:cNvPr id="386" name="Google Shape;386;p11"/>
          <p:cNvSpPr txBox="1"/>
          <p:nvPr/>
        </p:nvSpPr>
        <p:spPr>
          <a:xfrm>
            <a:off x="3904488" y="3096158"/>
            <a:ext cx="728164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konkrét, ellenőrizhető cél. Nem „javítsd meg”, hanem „szüntesd meg az N+1 query-t ebben a metódusban”.</a:t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777240" y="3750868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777240" y="3750868"/>
            <a:ext cx="41148" cy="645566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1033271" y="3899915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1033271" y="3941063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91" name="Google Shape;391;p11"/>
          <p:cNvSpPr txBox="1"/>
          <p:nvPr/>
        </p:nvSpPr>
        <p:spPr>
          <a:xfrm>
            <a:off x="1527048" y="3927347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Kontextus</a:t>
            </a:r>
            <a:endParaRPr/>
          </a:p>
        </p:txBody>
      </p:sp>
      <p:sp>
        <p:nvSpPr>
          <p:cNvPr id="392" name="Google Shape;392;p11"/>
          <p:cNvSpPr txBox="1"/>
          <p:nvPr/>
        </p:nvSpPr>
        <p:spPr>
          <a:xfrm>
            <a:off x="3904488" y="3878884"/>
            <a:ext cx="728164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Kód, hibalog, verziószámok, séma, konvenciók, megkötések. Amit nem adsz meg, azt kitalálja — és hihetően teszi.</a:t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777240" y="4533595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777240" y="4533595"/>
            <a:ext cx="41148" cy="645566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1033271" y="4682642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1033271" y="472379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97" name="Google Shape;397;p11"/>
          <p:cNvSpPr txBox="1"/>
          <p:nvPr/>
        </p:nvSpPr>
        <p:spPr>
          <a:xfrm>
            <a:off x="1527048" y="471007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Kimeneti forma</a:t>
            </a:r>
            <a:endParaRPr/>
          </a:p>
        </p:txBody>
      </p:sp>
      <p:sp>
        <p:nvSpPr>
          <p:cNvPr id="398" name="Google Shape;398;p11"/>
          <p:cNvSpPr txBox="1"/>
          <p:nvPr/>
        </p:nvSpPr>
        <p:spPr>
          <a:xfrm>
            <a:off x="3904488" y="4661611"/>
            <a:ext cx="728164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Diff? JSON? Táblázat? Maximum tíz sor? Magyarázat nélkül? Mondd meg, különben ő dönt helyetted.</a:t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777240" y="5316321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777240" y="5316321"/>
            <a:ext cx="41148" cy="645566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1033271" y="5465368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1033271" y="550651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03" name="Google Shape;403;p11"/>
          <p:cNvSpPr txBox="1"/>
          <p:nvPr/>
        </p:nvSpPr>
        <p:spPr>
          <a:xfrm>
            <a:off x="1527048" y="549280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Korlátok</a:t>
            </a:r>
            <a:endParaRPr/>
          </a:p>
        </p:txBody>
      </p:sp>
      <p:sp>
        <p:nvSpPr>
          <p:cNvPr id="404" name="Google Shape;404;p11"/>
          <p:cNvSpPr txBox="1"/>
          <p:nvPr/>
        </p:nvSpPr>
        <p:spPr>
          <a:xfrm>
            <a:off x="3904488" y="5444337"/>
            <a:ext cx="728164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 NE tegyen: ne vegyen fel új függőséget, ne nyúljon a migrációhoz, ne írja át a formázást. A tiltás konkrétan hasznos.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PÉLDA</a:t>
            </a:r>
            <a:endParaRPr/>
          </a:p>
        </p:txBody>
      </p:sp>
      <p:sp>
        <p:nvSpPr>
          <p:cNvPr id="411" name="Google Shape;411;p12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Ugyanaz a modell, két kérdés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416" name="Google Shape;416;p12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Nem a modell lesz okosabb a jó kérdéstől — a válasz lesz használható. És ez a te dolgod.</a:t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777240" y="2139696"/>
            <a:ext cx="5163296" cy="3822191"/>
          </a:xfrm>
          <a:prstGeom prst="roundRect">
            <a:avLst>
              <a:gd fmla="val 5500" name="adj"/>
            </a:avLst>
          </a:prstGeom>
          <a:solidFill>
            <a:srgbClr val="22212E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777240" y="2139696"/>
            <a:ext cx="5163296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1069848" y="2386584"/>
            <a:ext cx="457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  ROSSZ</a:t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1069848" y="2807208"/>
            <a:ext cx="4578080" cy="658368"/>
          </a:xfrm>
          <a:prstGeom prst="roundRect">
            <a:avLst>
              <a:gd fmla="val 10000" name="adj"/>
            </a:avLst>
          </a:prstGeom>
          <a:solidFill>
            <a:srgbClr val="0A0D14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1234440" y="3026664"/>
            <a:ext cx="42488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B0B0"/>
                </a:solidFill>
                <a:latin typeface="Consolas"/>
                <a:ea typeface="Consolas"/>
                <a:cs typeface="Consolas"/>
                <a:sym typeface="Consolas"/>
              </a:rPr>
              <a:t>javítsd meg a kódot, nem működik</a:t>
            </a:r>
            <a:endParaRPr/>
          </a:p>
        </p:txBody>
      </p:sp>
      <p:sp>
        <p:nvSpPr>
          <p:cNvPr id="422" name="Google Shape;422;p12"/>
          <p:cNvSpPr txBox="1"/>
          <p:nvPr/>
        </p:nvSpPr>
        <p:spPr>
          <a:xfrm>
            <a:off x="1069848" y="3630168"/>
            <a:ext cx="457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 lesz belőle:</a:t>
            </a:r>
            <a:endParaRPr/>
          </a:p>
        </p:txBody>
      </p:sp>
      <p:sp>
        <p:nvSpPr>
          <p:cNvPr id="423" name="Google Shape;423;p12"/>
          <p:cNvSpPr txBox="1"/>
          <p:nvPr/>
        </p:nvSpPr>
        <p:spPr>
          <a:xfrm>
            <a:off x="1069848" y="3968496"/>
            <a:ext cx="457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 Nem tudja, mi a „nem működik” — kitalál egy hibát</a:t>
            </a:r>
            <a:endParaRPr/>
          </a:p>
        </p:txBody>
      </p:sp>
      <p:sp>
        <p:nvSpPr>
          <p:cNvPr id="424" name="Google Shape;424;p12"/>
          <p:cNvSpPr txBox="1"/>
          <p:nvPr/>
        </p:nvSpPr>
        <p:spPr>
          <a:xfrm>
            <a:off x="1069848" y="4288536"/>
            <a:ext cx="457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 Nem tudja a nyelv verzióját, kitalál egy szintaxist</a:t>
            </a:r>
            <a:endParaRPr/>
          </a:p>
        </p:txBody>
      </p:sp>
      <p:sp>
        <p:nvSpPr>
          <p:cNvPr id="425" name="Google Shape;425;p12"/>
          <p:cNvSpPr txBox="1"/>
          <p:nvPr/>
        </p:nvSpPr>
        <p:spPr>
          <a:xfrm>
            <a:off x="1069848" y="4608576"/>
            <a:ext cx="457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 Átírja azt is, amihez nem kellett volna nyúlni</a:t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1069848" y="4928616"/>
            <a:ext cx="457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 Kapsz 60 sor kódot és nulla információt</a:t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6251432" y="2139696"/>
            <a:ext cx="5163296" cy="3822191"/>
          </a:xfrm>
          <a:prstGeom prst="roundRect">
            <a:avLst>
              <a:gd fmla="val 5500" name="adj"/>
            </a:avLst>
          </a:prstGeom>
          <a:solidFill>
            <a:srgbClr val="1A273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6251432" y="2139696"/>
            <a:ext cx="5163296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6544040" y="2386584"/>
            <a:ext cx="457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JÓ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6544040" y="2807208"/>
            <a:ext cx="4578080" cy="2862072"/>
          </a:xfrm>
          <a:prstGeom prst="roundRect">
            <a:avLst>
              <a:gd fmla="val 3000" name="adj"/>
            </a:avLst>
          </a:prstGeom>
          <a:solidFill>
            <a:srgbClr val="0A0D14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6708632" y="2990088"/>
            <a:ext cx="4248900" cy="22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PHP 8.2 / </a:t>
            </a:r>
            <a:r>
              <a:rPr lang="en-US" sz="1050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Yii2</a:t>
            </a: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. Az alábbi controller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metódus 500-at ad. A log: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  "Call to a member function id() on null"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C9E8D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[kód beillesztve]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C9E8D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Feladat: mondd meg, mi a hiba oka, és adj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rá javítást diffként.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Megkötések: ne vegyél fel új package-et,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a migrációhoz ne nyúlj.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E8DF"/>
                </a:solidFill>
                <a:latin typeface="Consolas"/>
                <a:ea typeface="Consolas"/>
                <a:cs typeface="Consolas"/>
                <a:sym typeface="Consolas"/>
              </a:rPr>
              <a:t>Válasz: max 10 sor magyarázat + a diff.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TECHNIKÁK</a:t>
            </a:r>
            <a:endParaRPr/>
          </a:p>
        </p:txBody>
      </p:sp>
      <p:sp>
        <p:nvSpPr>
          <p:cNvPr id="438" name="Google Shape;438;p13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Hat dolog, ami mérhetően javítja a választ</a:t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442" name="Google Shape;442;p13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Ezeket érdemes reflexből használni.</a:t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777240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77240" y="2185416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1051560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1051560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48" name="Google Shape;448;p13"/>
          <p:cNvSpPr txBox="1"/>
          <p:nvPr/>
        </p:nvSpPr>
        <p:spPr>
          <a:xfrm>
            <a:off x="1490472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Few-shot: mutass példát</a:t>
            </a:r>
            <a:endParaRPr/>
          </a:p>
        </p:txBody>
      </p:sp>
      <p:sp>
        <p:nvSpPr>
          <p:cNvPr id="449" name="Google Shape;449;p13"/>
          <p:cNvSpPr txBox="1"/>
          <p:nvPr/>
        </p:nvSpPr>
        <p:spPr>
          <a:xfrm>
            <a:off x="1051560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Két-három példa a kívánt ki- és bemenetre erősebb, mint bármilyen leírás. Formátumra ez a leghatékonyabb eszköz.</a:t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4408413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4408413" y="2185416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4682733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 txBox="1"/>
          <p:nvPr/>
        </p:nvSpPr>
        <p:spPr>
          <a:xfrm>
            <a:off x="4682733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54" name="Google Shape;454;p13"/>
          <p:cNvSpPr txBox="1"/>
          <p:nvPr/>
        </p:nvSpPr>
        <p:spPr>
          <a:xfrm>
            <a:off x="5121645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Bontsd lépésekre</a:t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4682733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„Először sorold fel a lehetséges okokat, csak utána javasolj javítást.” A gondolkodás kikényszerítése kevesebb elsietett választ ad.</a:t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8039587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8039587" y="2185416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8313907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8313907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60" name="Google Shape;460;p13"/>
          <p:cNvSpPr txBox="1"/>
          <p:nvPr/>
        </p:nvSpPr>
        <p:spPr>
          <a:xfrm>
            <a:off x="8752819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Írd elő a sémát</a:t>
            </a: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8313907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Adj JSON-vázat vagy sablont, és kérd, hogy csak azt adja vissza. Így a válasz gépileg is feldolgozható és ellenőrizhető.</a:t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777240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777240" y="4201667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051560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1051560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66" name="Google Shape;466;p13"/>
          <p:cNvSpPr txBox="1"/>
          <p:nvPr/>
        </p:nvSpPr>
        <p:spPr>
          <a:xfrm>
            <a:off x="1490472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Kérj önellenőrzést</a:t>
            </a:r>
            <a:endParaRPr/>
          </a:p>
        </p:txBody>
      </p:sp>
      <p:sp>
        <p:nvSpPr>
          <p:cNvPr id="467" name="Google Shape;467;p13"/>
          <p:cNvSpPr txBox="1"/>
          <p:nvPr/>
        </p:nvSpPr>
        <p:spPr>
          <a:xfrm>
            <a:off x="1051560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„Sorold fel, mi törhet el ettől a változtatástól.” Gyakran ő maga találja meg a saját hibáját — ingyen review.</a:t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4408413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4408413" y="4201667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4682733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 txBox="1"/>
          <p:nvPr/>
        </p:nvSpPr>
        <p:spPr>
          <a:xfrm>
            <a:off x="4682733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72" name="Google Shape;472;p13"/>
          <p:cNvSpPr txBox="1"/>
          <p:nvPr/>
        </p:nvSpPr>
        <p:spPr>
          <a:xfrm>
            <a:off x="5121645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Adj negatív példát</a:t>
            </a:r>
            <a:endParaRPr/>
          </a:p>
        </p:txBody>
      </p:sp>
      <p:sp>
        <p:nvSpPr>
          <p:cNvPr id="473" name="Google Shape;473;p13"/>
          <p:cNvSpPr txBox="1"/>
          <p:nvPr/>
        </p:nvSpPr>
        <p:spPr>
          <a:xfrm>
            <a:off x="4682733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Mutasd meg, mit NE csináljon: milyen megoldást láttál már tőle, ami nem jó. A konkrét tiltás jobban működik az általánosnál.</a:t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8039587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8039587" y="4201667"/>
            <a:ext cx="41148" cy="1760219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8313907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8313907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478" name="Google Shape;478;p13"/>
          <p:cNvSpPr txBox="1"/>
          <p:nvPr/>
        </p:nvSpPr>
        <p:spPr>
          <a:xfrm>
            <a:off x="8752819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Iterálj, ne kezdd újra</a:t>
            </a:r>
            <a:endParaRPr/>
          </a:p>
        </p:txBody>
      </p:sp>
      <p:sp>
        <p:nvSpPr>
          <p:cNvPr id="479" name="Google Shape;479;p13"/>
          <p:cNvSpPr txBox="1"/>
          <p:nvPr/>
        </p:nvSpPr>
        <p:spPr>
          <a:xfrm>
            <a:off x="8313907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 nyiss új chatet: mondd meg, mi volt rossz az előző válaszban. A meglévő kontextus a legértékesebb vagyonod.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HIBÁK</a:t>
            </a:r>
            <a:endParaRPr/>
          </a:p>
        </p:txBody>
      </p:sp>
      <p:sp>
        <p:nvSpPr>
          <p:cNvPr id="486" name="Google Shape;486;p14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Öt hiba, amit mindenki elkövet</a:t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490" name="Google Shape;490;p14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491" name="Google Shape;491;p14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Balra, amit ösztönösen csinálsz. Jobbra, amit érdemes helyette.</a:t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777240" y="222199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22212E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1014983" y="23957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494" name="Google Shape;494;p14"/>
          <p:cNvSpPr txBox="1"/>
          <p:nvPr/>
        </p:nvSpPr>
        <p:spPr>
          <a:xfrm>
            <a:off x="1344168" y="235000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„Írj egy API-t.”</a:t>
            </a:r>
            <a:endParaRPr/>
          </a:p>
        </p:txBody>
      </p:sp>
      <p:sp>
        <p:nvSpPr>
          <p:cNvPr id="495" name="Google Shape;495;p14"/>
          <p:cNvSpPr txBox="1"/>
          <p:nvPr/>
        </p:nvSpPr>
        <p:spPr>
          <a:xfrm>
            <a:off x="5903960" y="2368296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6507464" y="222199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1A273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6745208" y="23957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498" name="Google Shape;498;p14"/>
          <p:cNvSpPr txBox="1"/>
          <p:nvPr/>
        </p:nvSpPr>
        <p:spPr>
          <a:xfrm>
            <a:off x="7074392" y="2350008"/>
            <a:ext cx="4084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„Írj egy POST /orders endpointot </a:t>
            </a:r>
            <a:r>
              <a:rPr lang="en-US" sz="1200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Yii2</a:t>
            </a:r>
            <a:r>
              <a:rPr b="0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-ben, ezzel a validációval: …”</a:t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777240" y="295351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22212E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 txBox="1"/>
          <p:nvPr/>
        </p:nvSpPr>
        <p:spPr>
          <a:xfrm>
            <a:off x="1014983" y="31272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501" name="Google Shape;501;p14"/>
          <p:cNvSpPr txBox="1"/>
          <p:nvPr/>
        </p:nvSpPr>
        <p:spPr>
          <a:xfrm>
            <a:off x="1344168" y="308152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Kontextus nélkül kérdezel.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5903960" y="3099816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6507464" y="295351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1A273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 txBox="1"/>
          <p:nvPr/>
        </p:nvSpPr>
        <p:spPr>
          <a:xfrm>
            <a:off x="6745208" y="31272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505" name="Google Shape;505;p14"/>
          <p:cNvSpPr txBox="1"/>
          <p:nvPr/>
        </p:nvSpPr>
        <p:spPr>
          <a:xfrm>
            <a:off x="7074392" y="308152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Beteszed a hibalogot, a verziót és az érintett fájlt.</a:t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777240" y="368503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22212E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 txBox="1"/>
          <p:nvPr/>
        </p:nvSpPr>
        <p:spPr>
          <a:xfrm>
            <a:off x="1014983" y="38587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508" name="Google Shape;508;p14"/>
          <p:cNvSpPr txBox="1"/>
          <p:nvPr/>
        </p:nvSpPr>
        <p:spPr>
          <a:xfrm>
            <a:off x="1344168" y="381304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Elfogadod az első választ.</a:t>
            </a:r>
            <a:endParaRPr/>
          </a:p>
        </p:txBody>
      </p:sp>
      <p:sp>
        <p:nvSpPr>
          <p:cNvPr id="509" name="Google Shape;509;p14"/>
          <p:cNvSpPr txBox="1"/>
          <p:nvPr/>
        </p:nvSpPr>
        <p:spPr>
          <a:xfrm>
            <a:off x="5903960" y="3831336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6507464" y="368503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1A273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6745208" y="38587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512" name="Google Shape;512;p14"/>
          <p:cNvSpPr txBox="1"/>
          <p:nvPr/>
        </p:nvSpPr>
        <p:spPr>
          <a:xfrm>
            <a:off x="7074392" y="381304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Rákérdezel: „mi ennek a hátránya, mit törhet el?”</a:t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777240" y="441655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22212E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1014983" y="45902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515" name="Google Shape;515;p14"/>
          <p:cNvSpPr txBox="1"/>
          <p:nvPr/>
        </p:nvSpPr>
        <p:spPr>
          <a:xfrm>
            <a:off x="1344168" y="454456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promptban öt feladat.</a:t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5903960" y="4562856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6507464" y="441655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1A273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6745208" y="45902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7074392" y="454456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prompt = egy feladat. Sorban, egymás után.</a:t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777240" y="514807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22212E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/>
        </p:nvSpPr>
        <p:spPr>
          <a:xfrm>
            <a:off x="1014983" y="5321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/>
          </a:p>
        </p:txBody>
      </p:sp>
      <p:sp>
        <p:nvSpPr>
          <p:cNvPr id="522" name="Google Shape;522;p14"/>
          <p:cNvSpPr txBox="1"/>
          <p:nvPr/>
        </p:nvSpPr>
        <p:spPr>
          <a:xfrm>
            <a:off x="1344168" y="527608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Vakon lefuttatod, amit ad.</a:t>
            </a:r>
            <a:endParaRPr/>
          </a:p>
        </p:txBody>
      </p:sp>
      <p:sp>
        <p:nvSpPr>
          <p:cNvPr id="523" name="Google Shape;523;p14"/>
          <p:cNvSpPr txBox="1"/>
          <p:nvPr/>
        </p:nvSpPr>
        <p:spPr>
          <a:xfrm>
            <a:off x="5903960" y="5294376"/>
            <a:ext cx="384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6507464" y="5148072"/>
            <a:ext cx="4907264" cy="603504"/>
          </a:xfrm>
          <a:prstGeom prst="roundRect">
            <a:avLst>
              <a:gd fmla="val 5500" name="adj"/>
            </a:avLst>
          </a:prstGeom>
          <a:solidFill>
            <a:srgbClr val="1A273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6745208" y="5321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526" name="Google Shape;526;p14"/>
          <p:cNvSpPr txBox="1"/>
          <p:nvPr/>
        </p:nvSpPr>
        <p:spPr>
          <a:xfrm>
            <a:off x="7074392" y="5276088"/>
            <a:ext cx="4084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Elolvasod, mielőtt futtatod. Kivétel nélkül, mindig.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5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68B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 ENGINEERING</a:t>
            </a:r>
            <a:endParaRPr/>
          </a:p>
        </p:txBody>
      </p:sp>
      <p:sp>
        <p:nvSpPr>
          <p:cNvPr id="533" name="Google Shape;533;p15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kontextus fontosabb, mint a megfogalmazás</a:t>
            </a: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538" name="Google Shape;538;p15"/>
          <p:cNvSpPr txBox="1"/>
          <p:nvPr/>
        </p:nvSpPr>
        <p:spPr>
          <a:xfrm>
            <a:off x="777240" y="1572768"/>
            <a:ext cx="93609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modell kizárólag abból tud dolgozni, ami a kontextusablakban van. Ami nincs benne, azt kitalálja. De több szöveg ≠ jobb teljesítmény</a:t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777240" y="2523744"/>
            <a:ext cx="6595243" cy="658368"/>
          </a:xfrm>
          <a:prstGeom prst="roundRect">
            <a:avLst>
              <a:gd fmla="val 5500" name="adj"/>
            </a:avLst>
          </a:prstGeom>
          <a:solidFill>
            <a:srgbClr val="23273E"/>
          </a:solidFill>
          <a:ln cap="flat" cmpd="sng" w="9525">
            <a:solidFill>
              <a:srgbClr val="4F4F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1051560" y="2624327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A68B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Állandó szabályok</a:t>
            </a:r>
            <a:endParaRPr/>
          </a:p>
        </p:txBody>
      </p:sp>
      <p:sp>
        <p:nvSpPr>
          <p:cNvPr id="541" name="Google Shape;541;p15"/>
          <p:cNvSpPr txBox="1"/>
          <p:nvPr/>
        </p:nvSpPr>
        <p:spPr>
          <a:xfrm>
            <a:off x="1051560" y="2889503"/>
            <a:ext cx="604660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Rendszerprompt, CLAUDE.md, kódolási konvenciók, tiltások</a:t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1014983" y="3310127"/>
            <a:ext cx="6119755" cy="658368"/>
          </a:xfrm>
          <a:prstGeom prst="roundRect">
            <a:avLst>
              <a:gd fmla="val 5500" name="adj"/>
            </a:avLst>
          </a:prstGeom>
          <a:solidFill>
            <a:srgbClr val="1C2A3E"/>
          </a:solidFill>
          <a:ln cap="flat" cmpd="sng" w="9525">
            <a:solidFill>
              <a:srgbClr val="3958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 txBox="1"/>
          <p:nvPr/>
        </p:nvSpPr>
        <p:spPr>
          <a:xfrm>
            <a:off x="1289304" y="3410711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CA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Projektkontextus</a:t>
            </a:r>
            <a:endParaRPr/>
          </a:p>
        </p:txBody>
      </p:sp>
      <p:sp>
        <p:nvSpPr>
          <p:cNvPr id="544" name="Google Shape;544;p15"/>
          <p:cNvSpPr txBox="1"/>
          <p:nvPr/>
        </p:nvSpPr>
        <p:spPr>
          <a:xfrm>
            <a:off x="1289304" y="3675887"/>
            <a:ext cx="557111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Érintett fájlok, adatbázis-séma, API-szerződések, verziók</a:t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1252728" y="4096511"/>
            <a:ext cx="5644267" cy="658368"/>
          </a:xfrm>
          <a:prstGeom prst="roundRect">
            <a:avLst>
              <a:gd fmla="val 5500" name="adj"/>
            </a:avLst>
          </a:prstGeom>
          <a:solidFill>
            <a:srgbClr val="1C2F39"/>
          </a:solidFill>
          <a:ln cap="flat" cmpd="sng" w="9525">
            <a:solidFill>
              <a:srgbClr val="3A6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1527048" y="41970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 aktuális feladat</a:t>
            </a:r>
            <a:endParaRPr/>
          </a:p>
        </p:txBody>
      </p:sp>
      <p:sp>
        <p:nvSpPr>
          <p:cNvPr id="547" name="Google Shape;547;p15"/>
          <p:cNvSpPr txBox="1"/>
          <p:nvPr/>
        </p:nvSpPr>
        <p:spPr>
          <a:xfrm>
            <a:off x="1527048" y="4462272"/>
            <a:ext cx="5095627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konkrét kérés + hibalog + amit már kipróbáltál</a:t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1490472" y="4882896"/>
            <a:ext cx="5168779" cy="658368"/>
          </a:xfrm>
          <a:prstGeom prst="roundRect">
            <a:avLst>
              <a:gd fmla="val 5500" name="adj"/>
            </a:avLst>
          </a:prstGeom>
          <a:solidFill>
            <a:srgbClr val="2B2C2F"/>
          </a:solidFill>
          <a:ln cap="flat" cmpd="sng" w="9525">
            <a:solidFill>
              <a:srgbClr val="6A6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 txBox="1"/>
          <p:nvPr/>
        </p:nvSpPr>
        <p:spPr>
          <a:xfrm>
            <a:off x="1764792" y="4983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Eszközök</a:t>
            </a:r>
            <a:endParaRPr/>
          </a:p>
        </p:txBody>
      </p:sp>
      <p:sp>
        <p:nvSpPr>
          <p:cNvPr id="550" name="Google Shape;550;p15"/>
          <p:cNvSpPr txBox="1"/>
          <p:nvPr/>
        </p:nvSpPr>
        <p:spPr>
          <a:xfrm>
            <a:off x="1764792" y="5248656"/>
            <a:ext cx="46201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Futtatás, teszt, keresés, dokumentáció — hogy ne találgatnia kelljen</a:t>
            </a:r>
            <a:endParaRPr/>
          </a:p>
        </p:txBody>
      </p:sp>
      <p:sp>
        <p:nvSpPr>
          <p:cNvPr id="551" name="Google Shape;551;p15"/>
          <p:cNvSpPr txBox="1"/>
          <p:nvPr/>
        </p:nvSpPr>
        <p:spPr>
          <a:xfrm>
            <a:off x="7445635" y="3913631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7829683" y="3026663"/>
            <a:ext cx="3585046" cy="1920240"/>
          </a:xfrm>
          <a:prstGeom prst="roundRect">
            <a:avLst>
              <a:gd fmla="val 7000" name="adj"/>
            </a:avLst>
          </a:prstGeom>
          <a:gradFill>
            <a:gsLst>
              <a:gs pos="0">
                <a:srgbClr val="2A2845"/>
              </a:gs>
              <a:gs pos="100000">
                <a:srgbClr val="183034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 txBox="1"/>
          <p:nvPr/>
        </p:nvSpPr>
        <p:spPr>
          <a:xfrm>
            <a:off x="8140579" y="3300983"/>
            <a:ext cx="296325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Használható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válasz</a:t>
            </a:r>
            <a:endParaRPr/>
          </a:p>
        </p:txBody>
      </p:sp>
      <p:sp>
        <p:nvSpPr>
          <p:cNvPr id="554" name="Google Shape;554;p15"/>
          <p:cNvSpPr txBox="1"/>
          <p:nvPr/>
        </p:nvSpPr>
        <p:spPr>
          <a:xfrm>
            <a:off x="8140579" y="4242816"/>
            <a:ext cx="296325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válasz minősége a bemenet minőségének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függvénye. Nem a szerencse.</a:t>
            </a:r>
            <a:endParaRPr/>
          </a:p>
        </p:txBody>
      </p:sp>
      <p:sp>
        <p:nvSpPr>
          <p:cNvPr id="555" name="Google Shape;555;p15"/>
          <p:cNvSpPr txBox="1"/>
          <p:nvPr/>
        </p:nvSpPr>
        <p:spPr>
          <a:xfrm>
            <a:off x="777240" y="5650992"/>
            <a:ext cx="106374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Gyakorlati szabály: mielőtt promptolsz, kérdezd meg magadtól — mi az a három információ, ami nélkül én sem tudnám megoldani? Azt tedd be.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>
            <a:gsLst>
              <a:gs pos="0">
                <a:srgbClr val="0B0F18"/>
              </a:gs>
              <a:gs pos="100000">
                <a:srgbClr val="1A1B2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 txBox="1"/>
          <p:nvPr/>
        </p:nvSpPr>
        <p:spPr>
          <a:xfrm>
            <a:off x="914400" y="141732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0" u="none" cap="none" strike="noStrike">
                <a:solidFill>
                  <a:srgbClr val="3A3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564" name="Google Shape;564;p16"/>
          <p:cNvSpPr txBox="1"/>
          <p:nvPr/>
        </p:nvSpPr>
        <p:spPr>
          <a:xfrm>
            <a:off x="960120" y="3246120"/>
            <a:ext cx="972308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</a:t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960120" y="4315968"/>
            <a:ext cx="822960" cy="45720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 txBox="1"/>
          <p:nvPr/>
        </p:nvSpPr>
        <p:spPr>
          <a:xfrm>
            <a:off x="960120" y="4553712"/>
            <a:ext cx="76589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Amikor nem használod a modellt, hanem terméket építesz belőle. Itt már mérni, üzemeltetni és fizetni is kell.</a:t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569" name="Google Shape;569;p16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7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68B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ELHATÁROLÁS</a:t>
            </a:r>
            <a:endParaRPr/>
          </a:p>
        </p:txBody>
      </p:sp>
      <p:sp>
        <p:nvSpPr>
          <p:cNvPr id="576" name="Google Shape;576;p17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engineering vs. AI engineering</a:t>
            </a:r>
            <a:endParaRPr/>
          </a:p>
        </p:txBody>
      </p:sp>
      <p:sp>
        <p:nvSpPr>
          <p:cNvPr id="577" name="Google Shape;577;p17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580" name="Google Shape;580;p17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581" name="Google Shape;581;p17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Ugyanaz a modell, teljesen más felelősség.</a:t>
            </a: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3611880" y="2139696"/>
            <a:ext cx="3764264" cy="384048"/>
          </a:xfrm>
          <a:prstGeom prst="roundRect">
            <a:avLst>
              <a:gd fmla="val 20000" name="adj"/>
            </a:avLst>
          </a:prstGeom>
          <a:solidFill>
            <a:srgbClr val="1830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 txBox="1"/>
          <p:nvPr/>
        </p:nvSpPr>
        <p:spPr>
          <a:xfrm>
            <a:off x="3611880" y="2221992"/>
            <a:ext cx="3764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 ENGINEERING</a:t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7650464" y="2139696"/>
            <a:ext cx="3764264" cy="384048"/>
          </a:xfrm>
          <a:prstGeom prst="roundRect">
            <a:avLst>
              <a:gd fmla="val 20000" name="adj"/>
            </a:avLst>
          </a:prstGeom>
          <a:solidFill>
            <a:srgbClr val="2423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 txBox="1"/>
          <p:nvPr/>
        </p:nvSpPr>
        <p:spPr>
          <a:xfrm>
            <a:off x="7650464" y="2221992"/>
            <a:ext cx="37642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68B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</a:t>
            </a:r>
            <a:endParaRPr/>
          </a:p>
        </p:txBody>
      </p:sp>
      <p:sp>
        <p:nvSpPr>
          <p:cNvPr id="586" name="Google Shape;586;p17"/>
          <p:cNvSpPr/>
          <p:nvPr/>
        </p:nvSpPr>
        <p:spPr>
          <a:xfrm>
            <a:off x="777240" y="2642616"/>
            <a:ext cx="10637489" cy="4617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 txBox="1"/>
          <p:nvPr/>
        </p:nvSpPr>
        <p:spPr>
          <a:xfrm>
            <a:off x="1033271" y="2642616"/>
            <a:ext cx="2468880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Cél</a:t>
            </a:r>
            <a:endParaRPr/>
          </a:p>
        </p:txBody>
      </p:sp>
      <p:sp>
        <p:nvSpPr>
          <p:cNvPr id="588" name="Google Shape;588;p17"/>
          <p:cNvSpPr txBox="1"/>
          <p:nvPr/>
        </p:nvSpPr>
        <p:spPr>
          <a:xfrm>
            <a:off x="3794760" y="2642616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Most, erre a taskra jó választ kapni</a:t>
            </a:r>
            <a:endParaRPr/>
          </a:p>
        </p:txBody>
      </p:sp>
      <p:sp>
        <p:nvSpPr>
          <p:cNvPr id="589" name="Google Shape;589;p17"/>
          <p:cNvSpPr txBox="1"/>
          <p:nvPr/>
        </p:nvSpPr>
        <p:spPr>
          <a:xfrm>
            <a:off x="7833344" y="2642616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Ezerszer, megbízhatóan működő funkció</a:t>
            </a:r>
            <a:endParaRPr/>
          </a:p>
        </p:txBody>
      </p:sp>
      <p:sp>
        <p:nvSpPr>
          <p:cNvPr id="590" name="Google Shape;590;p17"/>
          <p:cNvSpPr/>
          <p:nvPr/>
        </p:nvSpPr>
        <p:spPr>
          <a:xfrm>
            <a:off x="777240" y="3195828"/>
            <a:ext cx="10637489" cy="461771"/>
          </a:xfrm>
          <a:prstGeom prst="roundRect">
            <a:avLst>
              <a:gd fmla="val 5500" name="adj"/>
            </a:avLst>
          </a:prstGeom>
          <a:solidFill>
            <a:srgbClr val="111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7"/>
          <p:cNvSpPr txBox="1"/>
          <p:nvPr/>
        </p:nvSpPr>
        <p:spPr>
          <a:xfrm>
            <a:off x="1033271" y="3195828"/>
            <a:ext cx="2468880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Kimenet</a:t>
            </a:r>
            <a:endParaRPr/>
          </a:p>
        </p:txBody>
      </p:sp>
      <p:sp>
        <p:nvSpPr>
          <p:cNvPr id="592" name="Google Shape;592;p17"/>
          <p:cNvSpPr txBox="1"/>
          <p:nvPr/>
        </p:nvSpPr>
        <p:spPr>
          <a:xfrm>
            <a:off x="3794760" y="3195828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Kód, szöveg, ötlet a chatben</a:t>
            </a:r>
            <a:endParaRPr/>
          </a:p>
        </p:txBody>
      </p:sp>
      <p:sp>
        <p:nvSpPr>
          <p:cNvPr id="593" name="Google Shape;593;p17"/>
          <p:cNvSpPr txBox="1"/>
          <p:nvPr/>
        </p:nvSpPr>
        <p:spPr>
          <a:xfrm>
            <a:off x="7833344" y="3195828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Termék, amit felhasználó használ</a:t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777240" y="3749039"/>
            <a:ext cx="10637489" cy="4617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 txBox="1"/>
          <p:nvPr/>
        </p:nvSpPr>
        <p:spPr>
          <a:xfrm>
            <a:off x="1033271" y="3749039"/>
            <a:ext cx="2468880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Eszközök</a:t>
            </a:r>
            <a:endParaRPr/>
          </a:p>
        </p:txBody>
      </p:sp>
      <p:sp>
        <p:nvSpPr>
          <p:cNvPr id="596" name="Google Shape;596;p17"/>
          <p:cNvSpPr txBox="1"/>
          <p:nvPr/>
        </p:nvSpPr>
        <p:spPr>
          <a:xfrm>
            <a:off x="3794760" y="3749039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IDE-asszisztens, chat, jó kérdés</a:t>
            </a:r>
            <a:endParaRPr/>
          </a:p>
        </p:txBody>
      </p:sp>
      <p:sp>
        <p:nvSpPr>
          <p:cNvPr id="597" name="Google Shape;597;p17"/>
          <p:cNvSpPr txBox="1"/>
          <p:nvPr/>
        </p:nvSpPr>
        <p:spPr>
          <a:xfrm>
            <a:off x="7833344" y="3749039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API/SDK, RAG, eval, cache, monitoring</a:t>
            </a: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777240" y="4302252"/>
            <a:ext cx="10637489" cy="461771"/>
          </a:xfrm>
          <a:prstGeom prst="roundRect">
            <a:avLst>
              <a:gd fmla="val 5500" name="adj"/>
            </a:avLst>
          </a:prstGeom>
          <a:solidFill>
            <a:srgbClr val="111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 txBox="1"/>
          <p:nvPr/>
        </p:nvSpPr>
        <p:spPr>
          <a:xfrm>
            <a:off x="1033271" y="4302252"/>
            <a:ext cx="2468880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Siker mértéke</a:t>
            </a:r>
            <a:endParaRPr/>
          </a:p>
        </p:txBody>
      </p:sp>
      <p:sp>
        <p:nvSpPr>
          <p:cNvPr id="600" name="Google Shape;600;p17"/>
          <p:cNvSpPr txBox="1"/>
          <p:nvPr/>
        </p:nvSpPr>
        <p:spPr>
          <a:xfrm>
            <a:off x="3794760" y="4302252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„Megoldotta, továbbmegyek”</a:t>
            </a:r>
            <a:endParaRPr/>
          </a:p>
        </p:txBody>
      </p:sp>
      <p:sp>
        <p:nvSpPr>
          <p:cNvPr id="601" name="Google Shape;601;p17"/>
          <p:cNvSpPr txBox="1"/>
          <p:nvPr/>
        </p:nvSpPr>
        <p:spPr>
          <a:xfrm>
            <a:off x="7833344" y="4302252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Mért minőség, latencia, költség, hibaarány</a:t>
            </a: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777240" y="4855464"/>
            <a:ext cx="10637489" cy="4617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 txBox="1"/>
          <p:nvPr/>
        </p:nvSpPr>
        <p:spPr>
          <a:xfrm>
            <a:off x="1033271" y="4855464"/>
            <a:ext cx="2468880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Fő kockázat</a:t>
            </a:r>
            <a:endParaRPr/>
          </a:p>
        </p:txBody>
      </p:sp>
      <p:sp>
        <p:nvSpPr>
          <p:cNvPr id="604" name="Google Shape;604;p17"/>
          <p:cNvSpPr txBox="1"/>
          <p:nvPr/>
        </p:nvSpPr>
        <p:spPr>
          <a:xfrm>
            <a:off x="3794760" y="4855464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Rossz kód kerül a repóba</a:t>
            </a:r>
            <a:endParaRPr/>
          </a:p>
        </p:txBody>
      </p:sp>
      <p:sp>
        <p:nvSpPr>
          <p:cNvPr id="605" name="Google Shape;605;p17"/>
          <p:cNvSpPr txBox="1"/>
          <p:nvPr/>
        </p:nvSpPr>
        <p:spPr>
          <a:xfrm>
            <a:off x="7833344" y="4855464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Rossz válasz az ügyfélnek, adatszivárgás, számla</a:t>
            </a: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777240" y="5408675"/>
            <a:ext cx="10637489" cy="461771"/>
          </a:xfrm>
          <a:prstGeom prst="roundRect">
            <a:avLst>
              <a:gd fmla="val 5500" name="adj"/>
            </a:avLst>
          </a:prstGeom>
          <a:solidFill>
            <a:srgbClr val="1117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1033271" y="5408675"/>
            <a:ext cx="2468880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Kinek kell</a:t>
            </a:r>
            <a:endParaRPr/>
          </a:p>
        </p:txBody>
      </p:sp>
      <p:sp>
        <p:nvSpPr>
          <p:cNvPr id="608" name="Google Shape;608;p17"/>
          <p:cNvSpPr txBox="1"/>
          <p:nvPr/>
        </p:nvSpPr>
        <p:spPr>
          <a:xfrm>
            <a:off x="3794760" y="5408675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Mindenkinek, aki fejleszt</a:t>
            </a:r>
            <a:endParaRPr/>
          </a:p>
        </p:txBody>
      </p:sp>
      <p:sp>
        <p:nvSpPr>
          <p:cNvPr id="609" name="Google Shape;609;p17"/>
          <p:cNvSpPr txBox="1"/>
          <p:nvPr/>
        </p:nvSpPr>
        <p:spPr>
          <a:xfrm>
            <a:off x="7833344" y="5408675"/>
            <a:ext cx="3398504" cy="46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Aki AI-funkciót szállít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8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68B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FELÉPÍTÉS</a:t>
            </a:r>
            <a:endParaRPr/>
          </a:p>
        </p:txBody>
      </p:sp>
      <p:sp>
        <p:nvSpPr>
          <p:cNvPr id="616" name="Google Shape;616;p18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AI-funkció stackje</a:t>
            </a:r>
            <a:endParaRPr/>
          </a:p>
        </p:txBody>
      </p:sp>
      <p:sp>
        <p:nvSpPr>
          <p:cNvPr id="617" name="Google Shape;617;p18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620" name="Google Shape;620;p18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21" name="Google Shape;621;p18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Öt réteg. A modell csak az egyik — és általában nem az, ahol a munka van.</a:t>
            </a:r>
            <a:endParaRPr/>
          </a:p>
        </p:txBody>
      </p:sp>
      <p:sp>
        <p:nvSpPr>
          <p:cNvPr id="622" name="Google Shape;622;p18"/>
          <p:cNvSpPr/>
          <p:nvPr/>
        </p:nvSpPr>
        <p:spPr>
          <a:xfrm>
            <a:off x="777240" y="2258568"/>
            <a:ext cx="7020743" cy="603504"/>
          </a:xfrm>
          <a:prstGeom prst="roundRect">
            <a:avLst>
              <a:gd fmla="val 5500" name="adj"/>
            </a:avLst>
          </a:prstGeom>
          <a:solidFill>
            <a:srgbClr val="26242E"/>
          </a:solidFill>
          <a:ln cap="flat" cmpd="sng" w="9525">
            <a:solidFill>
              <a:srgbClr val="754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996695" y="2395728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 txBox="1"/>
          <p:nvPr/>
        </p:nvSpPr>
        <p:spPr>
          <a:xfrm>
            <a:off x="996695" y="2427732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25" name="Google Shape;625;p18"/>
          <p:cNvSpPr txBox="1"/>
          <p:nvPr/>
        </p:nvSpPr>
        <p:spPr>
          <a:xfrm>
            <a:off x="1453895" y="2377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Üzemeltetés</a:t>
            </a:r>
            <a:endParaRPr/>
          </a:p>
        </p:txBody>
      </p:sp>
      <p:sp>
        <p:nvSpPr>
          <p:cNvPr id="626" name="Google Shape;626;p18"/>
          <p:cNvSpPr txBox="1"/>
          <p:nvPr/>
        </p:nvSpPr>
        <p:spPr>
          <a:xfrm>
            <a:off x="3520440" y="2377440"/>
            <a:ext cx="404894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Evals, logolás, költségfigyelés, guardrailek, riasztás</a:t>
            </a:r>
            <a:endParaRPr/>
          </a:p>
        </p:txBody>
      </p:sp>
      <p:sp>
        <p:nvSpPr>
          <p:cNvPr id="627" name="Google Shape;627;p18"/>
          <p:cNvSpPr/>
          <p:nvPr/>
        </p:nvSpPr>
        <p:spPr>
          <a:xfrm>
            <a:off x="777240" y="2971800"/>
            <a:ext cx="7020743" cy="603504"/>
          </a:xfrm>
          <a:prstGeom prst="roundRect">
            <a:avLst>
              <a:gd fmla="val 5500" name="adj"/>
            </a:avLst>
          </a:prstGeom>
          <a:solidFill>
            <a:srgbClr val="26292E"/>
          </a:solidFill>
          <a:ln cap="flat" cmpd="sng" w="9525">
            <a:solidFill>
              <a:srgbClr val="756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996695" y="3108960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 txBox="1"/>
          <p:nvPr/>
        </p:nvSpPr>
        <p:spPr>
          <a:xfrm>
            <a:off x="996695" y="314096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30" name="Google Shape;630;p18"/>
          <p:cNvSpPr txBox="1"/>
          <p:nvPr/>
        </p:nvSpPr>
        <p:spPr>
          <a:xfrm>
            <a:off x="1453895" y="30906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Modell</a:t>
            </a:r>
            <a:endParaRPr/>
          </a:p>
        </p:txBody>
      </p:sp>
      <p:sp>
        <p:nvSpPr>
          <p:cNvPr id="631" name="Google Shape;631;p18"/>
          <p:cNvSpPr txBox="1"/>
          <p:nvPr/>
        </p:nvSpPr>
        <p:spPr>
          <a:xfrm>
            <a:off x="3520440" y="3090672"/>
            <a:ext cx="404894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Modellválasztás, paraméterek, verziórögzítés, fallback</a:t>
            </a:r>
            <a:endParaRPr/>
          </a:p>
        </p:txBody>
      </p:sp>
      <p:sp>
        <p:nvSpPr>
          <p:cNvPr id="632" name="Google Shape;632;p18"/>
          <p:cNvSpPr/>
          <p:nvPr/>
        </p:nvSpPr>
        <p:spPr>
          <a:xfrm>
            <a:off x="777240" y="3685032"/>
            <a:ext cx="7020743" cy="603504"/>
          </a:xfrm>
          <a:prstGeom prst="roundRect">
            <a:avLst>
              <a:gd fmla="val 5500" name="adj"/>
            </a:avLst>
          </a:prstGeom>
          <a:solidFill>
            <a:srgbClr val="1B2B36"/>
          </a:solidFill>
          <a:ln cap="flat" cmpd="sng" w="9525">
            <a:solidFill>
              <a:srgbClr val="3C71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996695" y="3822192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996695" y="3854196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35" name="Google Shape;635;p18"/>
          <p:cNvSpPr txBox="1"/>
          <p:nvPr/>
        </p:nvSpPr>
        <p:spPr>
          <a:xfrm>
            <a:off x="1453895" y="380390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Kontextus</a:t>
            </a:r>
            <a:endParaRPr/>
          </a:p>
        </p:txBody>
      </p:sp>
      <p:sp>
        <p:nvSpPr>
          <p:cNvPr id="636" name="Google Shape;636;p18"/>
          <p:cNvSpPr txBox="1"/>
          <p:nvPr/>
        </p:nvSpPr>
        <p:spPr>
          <a:xfrm>
            <a:off x="3520440" y="3803904"/>
            <a:ext cx="404894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RAG, adatbázis, embeddingek, prompt-cache, tömörítés</a:t>
            </a:r>
            <a:endParaRPr/>
          </a:p>
        </p:txBody>
      </p:sp>
      <p:sp>
        <p:nvSpPr>
          <p:cNvPr id="637" name="Google Shape;637;p18"/>
          <p:cNvSpPr/>
          <p:nvPr/>
        </p:nvSpPr>
        <p:spPr>
          <a:xfrm>
            <a:off x="777240" y="4398264"/>
            <a:ext cx="7020743" cy="603504"/>
          </a:xfrm>
          <a:prstGeom prst="roundRect">
            <a:avLst>
              <a:gd fmla="val 5500" name="adj"/>
            </a:avLst>
          </a:prstGeom>
          <a:solidFill>
            <a:srgbClr val="1B273A"/>
          </a:solidFill>
          <a:ln cap="flat" cmpd="sng" w="9525">
            <a:solidFill>
              <a:srgbClr val="3C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996695" y="4535424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 txBox="1"/>
          <p:nvPr/>
        </p:nvSpPr>
        <p:spPr>
          <a:xfrm>
            <a:off x="996695" y="456742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40" name="Google Shape;640;p18"/>
          <p:cNvSpPr txBox="1"/>
          <p:nvPr/>
        </p:nvSpPr>
        <p:spPr>
          <a:xfrm>
            <a:off x="1453895" y="45171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Orkesztráció</a:t>
            </a:r>
            <a:endParaRPr/>
          </a:p>
        </p:txBody>
      </p:sp>
      <p:sp>
        <p:nvSpPr>
          <p:cNvPr id="641" name="Google Shape;641;p18"/>
          <p:cNvSpPr txBox="1"/>
          <p:nvPr/>
        </p:nvSpPr>
        <p:spPr>
          <a:xfrm>
            <a:off x="3520440" y="4517136"/>
            <a:ext cx="404894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Promptok, eszközhívás, retry, timeout, séma-validáció</a:t>
            </a:r>
            <a:endParaRPr/>
          </a:p>
        </p:txBody>
      </p:sp>
      <p:sp>
        <p:nvSpPr>
          <p:cNvPr id="642" name="Google Shape;642;p18"/>
          <p:cNvSpPr/>
          <p:nvPr/>
        </p:nvSpPr>
        <p:spPr>
          <a:xfrm>
            <a:off x="777240" y="5111496"/>
            <a:ext cx="7020743" cy="603504"/>
          </a:xfrm>
          <a:prstGeom prst="roundRect">
            <a:avLst>
              <a:gd fmla="val 5500" name="adj"/>
            </a:avLst>
          </a:prstGeom>
          <a:solidFill>
            <a:srgbClr val="202539"/>
          </a:solidFill>
          <a:ln cap="flat" cmpd="sng" w="9525">
            <a:solidFill>
              <a:srgbClr val="555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8"/>
          <p:cNvSpPr/>
          <p:nvPr/>
        </p:nvSpPr>
        <p:spPr>
          <a:xfrm>
            <a:off x="996695" y="524865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8"/>
          <p:cNvSpPr txBox="1"/>
          <p:nvPr/>
        </p:nvSpPr>
        <p:spPr>
          <a:xfrm>
            <a:off x="996695" y="528066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45" name="Google Shape;645;p18"/>
          <p:cNvSpPr txBox="1"/>
          <p:nvPr/>
        </p:nvSpPr>
        <p:spPr>
          <a:xfrm>
            <a:off x="1453895" y="523036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Felhasználói felület</a:t>
            </a:r>
            <a:endParaRPr/>
          </a:p>
        </p:txBody>
      </p:sp>
      <p:sp>
        <p:nvSpPr>
          <p:cNvPr id="646" name="Google Shape;646;p18"/>
          <p:cNvSpPr txBox="1"/>
          <p:nvPr/>
        </p:nvSpPr>
        <p:spPr>
          <a:xfrm>
            <a:off x="3520440" y="5230368"/>
            <a:ext cx="404894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Streaming, visszajelzés, szerkeszthetőség, „az AI tévedhet”</a:t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8209463" y="2258568"/>
            <a:ext cx="3205266" cy="1691640"/>
          </a:xfrm>
          <a:prstGeom prst="roundRect">
            <a:avLst>
              <a:gd fmla="val 5500" name="adj"/>
            </a:avLst>
          </a:prstGeom>
          <a:solidFill>
            <a:srgbClr val="242840"/>
          </a:solidFill>
          <a:ln cap="flat" cmpd="sng" w="9525">
            <a:solidFill>
              <a:srgbClr val="5C57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8483783" y="2514600"/>
            <a:ext cx="265662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68B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lényeg</a:t>
            </a:r>
            <a:endParaRPr/>
          </a:p>
        </p:txBody>
      </p:sp>
      <p:sp>
        <p:nvSpPr>
          <p:cNvPr id="649" name="Google Shape;649;p18"/>
          <p:cNvSpPr txBox="1"/>
          <p:nvPr/>
        </p:nvSpPr>
        <p:spPr>
          <a:xfrm>
            <a:off x="8483783" y="2880360"/>
            <a:ext cx="265662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modellcsere egy sor kód. A körülötte lévő négy réteg viszont hetek munkája — és az dönti el, hogy a funkció használható-e.</a:t>
            </a: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8209463" y="4178808"/>
            <a:ext cx="3205266" cy="1463040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 txBox="1"/>
          <p:nvPr/>
        </p:nvSpPr>
        <p:spPr>
          <a:xfrm>
            <a:off x="8483783" y="4416552"/>
            <a:ext cx="265662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Amit gyakornokként érdemes</a:t>
            </a:r>
            <a:endParaRPr/>
          </a:p>
        </p:txBody>
      </p:sp>
      <p:sp>
        <p:nvSpPr>
          <p:cNvPr id="652" name="Google Shape;652;p18"/>
          <p:cNvSpPr txBox="1"/>
          <p:nvPr/>
        </p:nvSpPr>
        <p:spPr>
          <a:xfrm>
            <a:off x="8483783" y="4764024"/>
            <a:ext cx="2656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réteget megérteni rendesen (2. vagy 3.), nem mindet felületesen. Az orkesztráció a legjobb belépő.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9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9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ALAPMINTA</a:t>
            </a:r>
            <a:endParaRPr/>
          </a:p>
        </p:txBody>
      </p:sp>
      <p:sp>
        <p:nvSpPr>
          <p:cNvPr id="659" name="Google Shape;659;p19"/>
          <p:cNvSpPr txBox="1"/>
          <p:nvPr/>
        </p:nvSpPr>
        <p:spPr>
          <a:xfrm>
            <a:off x="777240" y="749808"/>
            <a:ext cx="1063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 (Retrieval-Augmented Generation )</a:t>
            </a: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dióhéjban</a:t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9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663" name="Google Shape;663;p19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664" name="Google Shape;664;p19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leggyakoribb AI-funkció: „válaszolj a mi dokumentumainkból”. Nem finomhangolás kell hozzá, hanem jó keresés.</a:t>
            </a:r>
            <a:endParaRPr/>
          </a:p>
        </p:txBody>
      </p:sp>
      <p:sp>
        <p:nvSpPr>
          <p:cNvPr id="665" name="Google Shape;665;p19"/>
          <p:cNvSpPr/>
          <p:nvPr/>
        </p:nvSpPr>
        <p:spPr>
          <a:xfrm>
            <a:off x="777240" y="2523744"/>
            <a:ext cx="1951933" cy="211226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9"/>
          <p:cNvSpPr/>
          <p:nvPr/>
        </p:nvSpPr>
        <p:spPr>
          <a:xfrm>
            <a:off x="777240" y="2523744"/>
            <a:ext cx="1951933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1033271" y="2798063"/>
            <a:ext cx="384048" cy="384048"/>
          </a:xfrm>
          <a:prstGeom prst="ellipse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9"/>
          <p:cNvSpPr txBox="1"/>
          <p:nvPr/>
        </p:nvSpPr>
        <p:spPr>
          <a:xfrm>
            <a:off x="1033271" y="2862071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69" name="Google Shape;669;p19"/>
          <p:cNvSpPr txBox="1"/>
          <p:nvPr/>
        </p:nvSpPr>
        <p:spPr>
          <a:xfrm>
            <a:off x="1033271" y="3364991"/>
            <a:ext cx="143986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Feldarabolás</a:t>
            </a:r>
            <a:endParaRPr/>
          </a:p>
        </p:txBody>
      </p:sp>
      <p:sp>
        <p:nvSpPr>
          <p:cNvPr id="670" name="Google Shape;670;p19"/>
          <p:cNvSpPr txBox="1"/>
          <p:nvPr/>
        </p:nvSpPr>
        <p:spPr>
          <a:xfrm>
            <a:off x="1033271" y="3767327"/>
            <a:ext cx="1439869" cy="74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Értelmes, önállóan is olvasható szeletekre bontod.</a:t>
            </a:r>
            <a:endParaRPr/>
          </a:p>
        </p:txBody>
      </p:sp>
      <p:sp>
        <p:nvSpPr>
          <p:cNvPr id="671" name="Google Shape;671;p19"/>
          <p:cNvSpPr txBox="1"/>
          <p:nvPr/>
        </p:nvSpPr>
        <p:spPr>
          <a:xfrm>
            <a:off x="2738317" y="351129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672" name="Google Shape;672;p19"/>
          <p:cNvSpPr/>
          <p:nvPr/>
        </p:nvSpPr>
        <p:spPr>
          <a:xfrm>
            <a:off x="2948629" y="2523744"/>
            <a:ext cx="1951933" cy="211226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2948629" y="2523744"/>
            <a:ext cx="1951933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9"/>
          <p:cNvSpPr/>
          <p:nvPr/>
        </p:nvSpPr>
        <p:spPr>
          <a:xfrm>
            <a:off x="3204661" y="2798063"/>
            <a:ext cx="384048" cy="384048"/>
          </a:xfrm>
          <a:prstGeom prst="ellipse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9"/>
          <p:cNvSpPr txBox="1"/>
          <p:nvPr/>
        </p:nvSpPr>
        <p:spPr>
          <a:xfrm>
            <a:off x="3204661" y="2862071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76" name="Google Shape;676;p19"/>
          <p:cNvSpPr txBox="1"/>
          <p:nvPr/>
        </p:nvSpPr>
        <p:spPr>
          <a:xfrm>
            <a:off x="3204661" y="3364991"/>
            <a:ext cx="143986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Beágyazás</a:t>
            </a:r>
            <a:endParaRPr/>
          </a:p>
        </p:txBody>
      </p:sp>
      <p:sp>
        <p:nvSpPr>
          <p:cNvPr id="677" name="Google Shape;677;p19"/>
          <p:cNvSpPr txBox="1"/>
          <p:nvPr/>
        </p:nvSpPr>
        <p:spPr>
          <a:xfrm>
            <a:off x="3204661" y="3767327"/>
            <a:ext cx="1439869" cy="74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Minden szeletből vektor lesz, ami a jelentést kódolja.</a:t>
            </a:r>
            <a:endParaRPr/>
          </a:p>
        </p:txBody>
      </p:sp>
      <p:sp>
        <p:nvSpPr>
          <p:cNvPr id="678" name="Google Shape;678;p19"/>
          <p:cNvSpPr txBox="1"/>
          <p:nvPr/>
        </p:nvSpPr>
        <p:spPr>
          <a:xfrm>
            <a:off x="4909706" y="351129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679" name="Google Shape;679;p19"/>
          <p:cNvSpPr/>
          <p:nvPr/>
        </p:nvSpPr>
        <p:spPr>
          <a:xfrm>
            <a:off x="5120018" y="2523744"/>
            <a:ext cx="1951933" cy="211226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9"/>
          <p:cNvSpPr/>
          <p:nvPr/>
        </p:nvSpPr>
        <p:spPr>
          <a:xfrm>
            <a:off x="5120018" y="2523744"/>
            <a:ext cx="1951933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9"/>
          <p:cNvSpPr/>
          <p:nvPr/>
        </p:nvSpPr>
        <p:spPr>
          <a:xfrm>
            <a:off x="5376050" y="2798063"/>
            <a:ext cx="384048" cy="384048"/>
          </a:xfrm>
          <a:prstGeom prst="ellipse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9"/>
          <p:cNvSpPr txBox="1"/>
          <p:nvPr/>
        </p:nvSpPr>
        <p:spPr>
          <a:xfrm>
            <a:off x="5376050" y="2862071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83" name="Google Shape;683;p19"/>
          <p:cNvSpPr txBox="1"/>
          <p:nvPr/>
        </p:nvSpPr>
        <p:spPr>
          <a:xfrm>
            <a:off x="5376050" y="3364991"/>
            <a:ext cx="143986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Tárolás</a:t>
            </a:r>
            <a:endParaRPr/>
          </a:p>
        </p:txBody>
      </p:sp>
      <p:sp>
        <p:nvSpPr>
          <p:cNvPr id="684" name="Google Shape;684;p19"/>
          <p:cNvSpPr txBox="1"/>
          <p:nvPr/>
        </p:nvSpPr>
        <p:spPr>
          <a:xfrm>
            <a:off x="5376050" y="3767327"/>
            <a:ext cx="1439869" cy="74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Vektoradatbázisba, metaadattal: forrás, dátum, jog.</a:t>
            </a:r>
            <a:endParaRPr/>
          </a:p>
        </p:txBody>
      </p:sp>
      <p:sp>
        <p:nvSpPr>
          <p:cNvPr id="685" name="Google Shape;685;p19"/>
          <p:cNvSpPr txBox="1"/>
          <p:nvPr/>
        </p:nvSpPr>
        <p:spPr>
          <a:xfrm>
            <a:off x="7081095" y="351129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686" name="Google Shape;686;p19"/>
          <p:cNvSpPr/>
          <p:nvPr/>
        </p:nvSpPr>
        <p:spPr>
          <a:xfrm>
            <a:off x="7291407" y="2523744"/>
            <a:ext cx="1951933" cy="211226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7291407" y="2523744"/>
            <a:ext cx="1951933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7547439" y="2798063"/>
            <a:ext cx="384048" cy="384048"/>
          </a:xfrm>
          <a:prstGeom prst="ellipse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9"/>
          <p:cNvSpPr txBox="1"/>
          <p:nvPr/>
        </p:nvSpPr>
        <p:spPr>
          <a:xfrm>
            <a:off x="7547439" y="2862071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90" name="Google Shape;690;p19"/>
          <p:cNvSpPr txBox="1"/>
          <p:nvPr/>
        </p:nvSpPr>
        <p:spPr>
          <a:xfrm>
            <a:off x="7547439" y="3364991"/>
            <a:ext cx="143986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Keresés</a:t>
            </a:r>
            <a:endParaRPr/>
          </a:p>
        </p:txBody>
      </p:sp>
      <p:sp>
        <p:nvSpPr>
          <p:cNvPr id="691" name="Google Shape;691;p19"/>
          <p:cNvSpPr txBox="1"/>
          <p:nvPr/>
        </p:nvSpPr>
        <p:spPr>
          <a:xfrm>
            <a:off x="7547439" y="3767327"/>
            <a:ext cx="1439869" cy="74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kérdéshez legközelebbi szeleteket kéred vissza.</a:t>
            </a:r>
            <a:endParaRPr/>
          </a:p>
        </p:txBody>
      </p:sp>
      <p:sp>
        <p:nvSpPr>
          <p:cNvPr id="692" name="Google Shape;692;p19"/>
          <p:cNvSpPr txBox="1"/>
          <p:nvPr/>
        </p:nvSpPr>
        <p:spPr>
          <a:xfrm>
            <a:off x="9252484" y="3511296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693" name="Google Shape;693;p19"/>
          <p:cNvSpPr/>
          <p:nvPr/>
        </p:nvSpPr>
        <p:spPr>
          <a:xfrm>
            <a:off x="9462796" y="2523744"/>
            <a:ext cx="1951933" cy="2112263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9462796" y="2523744"/>
            <a:ext cx="1951933" cy="45720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9718828" y="2798063"/>
            <a:ext cx="384048" cy="384048"/>
          </a:xfrm>
          <a:prstGeom prst="ellipse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9"/>
          <p:cNvSpPr txBox="1"/>
          <p:nvPr/>
        </p:nvSpPr>
        <p:spPr>
          <a:xfrm>
            <a:off x="9718828" y="2862071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97" name="Google Shape;697;p19"/>
          <p:cNvSpPr txBox="1"/>
          <p:nvPr/>
        </p:nvSpPr>
        <p:spPr>
          <a:xfrm>
            <a:off x="9718828" y="3364991"/>
            <a:ext cx="143986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Válasz</a:t>
            </a:r>
            <a:endParaRPr/>
          </a:p>
        </p:txBody>
      </p:sp>
      <p:sp>
        <p:nvSpPr>
          <p:cNvPr id="698" name="Google Shape;698;p19"/>
          <p:cNvSpPr txBox="1"/>
          <p:nvPr/>
        </p:nvSpPr>
        <p:spPr>
          <a:xfrm>
            <a:off x="9718828" y="3767327"/>
            <a:ext cx="1439869" cy="74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talált szeletek a promptba kerülnek — csak azokból.</a:t>
            </a:r>
            <a:endParaRPr/>
          </a:p>
        </p:txBody>
      </p:sp>
      <p:sp>
        <p:nvSpPr>
          <p:cNvPr id="699" name="Google Shape;699;p19"/>
          <p:cNvSpPr/>
          <p:nvPr/>
        </p:nvSpPr>
        <p:spPr>
          <a:xfrm>
            <a:off x="777240" y="4818888"/>
            <a:ext cx="5181584" cy="1143000"/>
          </a:xfrm>
          <a:prstGeom prst="roundRect">
            <a:avLst>
              <a:gd fmla="val 5500" name="adj"/>
            </a:avLst>
          </a:prstGeom>
          <a:solidFill>
            <a:srgbClr val="1A2934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9"/>
          <p:cNvSpPr txBox="1"/>
          <p:nvPr/>
        </p:nvSpPr>
        <p:spPr>
          <a:xfrm>
            <a:off x="1051560" y="5020055"/>
            <a:ext cx="4632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EE0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Miért jó</a:t>
            </a:r>
            <a:endParaRPr/>
          </a:p>
        </p:txBody>
      </p:sp>
      <p:sp>
        <p:nvSpPr>
          <p:cNvPr id="701" name="Google Shape;701;p19"/>
          <p:cNvSpPr txBox="1"/>
          <p:nvPr/>
        </p:nvSpPr>
        <p:spPr>
          <a:xfrm>
            <a:off x="1051560" y="5349240"/>
            <a:ext cx="46329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Friss, saját, hivatkozható adatból válaszol — és meg tudod mutatni, honnan vette.</a:t>
            </a:r>
            <a:endParaRPr/>
          </a:p>
        </p:txBody>
      </p:sp>
      <p:sp>
        <p:nvSpPr>
          <p:cNvPr id="702" name="Google Shape;702;p19"/>
          <p:cNvSpPr/>
          <p:nvPr/>
        </p:nvSpPr>
        <p:spPr>
          <a:xfrm>
            <a:off x="6233144" y="4818888"/>
            <a:ext cx="5181584" cy="1143000"/>
          </a:xfrm>
          <a:prstGeom prst="roundRect">
            <a:avLst>
              <a:gd fmla="val 5500" name="adj"/>
            </a:avLst>
          </a:prstGeom>
          <a:solidFill>
            <a:srgbClr val="24272E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9"/>
          <p:cNvSpPr txBox="1"/>
          <p:nvPr/>
        </p:nvSpPr>
        <p:spPr>
          <a:xfrm>
            <a:off x="6507464" y="5020055"/>
            <a:ext cx="46329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 romlik el</a:t>
            </a:r>
            <a:endParaRPr/>
          </a:p>
        </p:txBody>
      </p:sp>
      <p:sp>
        <p:nvSpPr>
          <p:cNvPr id="704" name="Google Shape;704;p19"/>
          <p:cNvSpPr txBox="1"/>
          <p:nvPr/>
        </p:nvSpPr>
        <p:spPr>
          <a:xfrm>
            <a:off x="6507464" y="5349240"/>
            <a:ext cx="46329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Szinte mindig a keresésnél, nem a modellnél. Rossz szeletek → rossz válasz, bármelyik modellel.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0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0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CA8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MÉRÉS</a:t>
            </a:r>
            <a:endParaRPr/>
          </a:p>
        </p:txBody>
      </p:sp>
      <p:sp>
        <p:nvSpPr>
          <p:cNvPr id="711" name="Google Shape;711;p20"/>
          <p:cNvSpPr txBox="1"/>
          <p:nvPr/>
        </p:nvSpPr>
        <p:spPr>
          <a:xfrm>
            <a:off x="777240" y="749808"/>
            <a:ext cx="1063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Kimenet</a:t>
            </a: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honnan tudod, hogy jó?</a:t>
            </a:r>
            <a:endParaRPr/>
          </a:p>
        </p:txBody>
      </p:sp>
      <p:sp>
        <p:nvSpPr>
          <p:cNvPr id="712" name="Google Shape;712;p20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0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0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715" name="Google Shape;715;p20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16" name="Google Shape;716;p20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Ezt a részt mindenki kihagyja — és utána mindenki csak reménykedik.</a:t>
            </a:r>
            <a:endParaRPr/>
          </a:p>
        </p:txBody>
      </p:sp>
      <p:sp>
        <p:nvSpPr>
          <p:cNvPr id="717" name="Google Shape;717;p20"/>
          <p:cNvSpPr/>
          <p:nvPr/>
        </p:nvSpPr>
        <p:spPr>
          <a:xfrm>
            <a:off x="777240" y="2185416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777240" y="2185416"/>
            <a:ext cx="41148" cy="645566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0"/>
          <p:cNvSpPr/>
          <p:nvPr/>
        </p:nvSpPr>
        <p:spPr>
          <a:xfrm>
            <a:off x="1033271" y="2334463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0"/>
          <p:cNvSpPr txBox="1"/>
          <p:nvPr/>
        </p:nvSpPr>
        <p:spPr>
          <a:xfrm>
            <a:off x="1033271" y="2375611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21" name="Google Shape;721;p20"/>
          <p:cNvSpPr txBox="1"/>
          <p:nvPr/>
        </p:nvSpPr>
        <p:spPr>
          <a:xfrm>
            <a:off x="1527048" y="2361895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Építs tesztkészletet</a:t>
            </a:r>
            <a:endParaRPr/>
          </a:p>
        </p:txBody>
      </p:sp>
      <p:sp>
        <p:nvSpPr>
          <p:cNvPr id="722" name="Google Shape;722;p20"/>
          <p:cNvSpPr txBox="1"/>
          <p:nvPr/>
        </p:nvSpPr>
        <p:spPr>
          <a:xfrm>
            <a:off x="4270248" y="2313432"/>
            <a:ext cx="691588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30–50 valós kérdés az elvárt válasszal. Ez az egyetlen módja, hogy egy promptmódosításról megtudd: javulás vagy rontás.</a:t>
            </a:r>
            <a:endParaRPr/>
          </a:p>
        </p:txBody>
      </p:sp>
      <p:sp>
        <p:nvSpPr>
          <p:cNvPr id="723" name="Google Shape;723;p20"/>
          <p:cNvSpPr/>
          <p:nvPr/>
        </p:nvSpPr>
        <p:spPr>
          <a:xfrm>
            <a:off x="777240" y="2968142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0"/>
          <p:cNvSpPr/>
          <p:nvPr/>
        </p:nvSpPr>
        <p:spPr>
          <a:xfrm>
            <a:off x="777240" y="2968142"/>
            <a:ext cx="41148" cy="645566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0"/>
          <p:cNvSpPr/>
          <p:nvPr/>
        </p:nvSpPr>
        <p:spPr>
          <a:xfrm>
            <a:off x="1033271" y="3117189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0"/>
          <p:cNvSpPr txBox="1"/>
          <p:nvPr/>
        </p:nvSpPr>
        <p:spPr>
          <a:xfrm>
            <a:off x="1033271" y="3158337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27" name="Google Shape;727;p20"/>
          <p:cNvSpPr txBox="1"/>
          <p:nvPr/>
        </p:nvSpPr>
        <p:spPr>
          <a:xfrm>
            <a:off x="1527048" y="3144621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Mérj több dimenziót</a:t>
            </a:r>
            <a:endParaRPr/>
          </a:p>
        </p:txBody>
      </p:sp>
      <p:sp>
        <p:nvSpPr>
          <p:cNvPr id="728" name="Google Shape;728;p20"/>
          <p:cNvSpPr txBox="1"/>
          <p:nvPr/>
        </p:nvSpPr>
        <p:spPr>
          <a:xfrm>
            <a:off x="4270248" y="3096158"/>
            <a:ext cx="691588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Helyesség, formátumhelyesség, hallucináció, tónus, latencia, költség. Egyetlen szám nem írja le a minőséget.</a:t>
            </a:r>
            <a:endParaRPr/>
          </a:p>
        </p:txBody>
      </p:sp>
      <p:sp>
        <p:nvSpPr>
          <p:cNvPr id="729" name="Google Shape;729;p20"/>
          <p:cNvSpPr/>
          <p:nvPr/>
        </p:nvSpPr>
        <p:spPr>
          <a:xfrm>
            <a:off x="777240" y="3750868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0"/>
          <p:cNvSpPr/>
          <p:nvPr/>
        </p:nvSpPr>
        <p:spPr>
          <a:xfrm>
            <a:off x="777240" y="3750868"/>
            <a:ext cx="41148" cy="645566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1033271" y="3899915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0"/>
          <p:cNvSpPr txBox="1"/>
          <p:nvPr/>
        </p:nvSpPr>
        <p:spPr>
          <a:xfrm>
            <a:off x="1033271" y="3941063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33" name="Google Shape;733;p20"/>
          <p:cNvSpPr txBox="1"/>
          <p:nvPr/>
        </p:nvSpPr>
        <p:spPr>
          <a:xfrm>
            <a:off x="1527048" y="3927347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Automatizáld, amit lehet</a:t>
            </a:r>
            <a:endParaRPr/>
          </a:p>
        </p:txBody>
      </p:sp>
      <p:sp>
        <p:nvSpPr>
          <p:cNvPr id="734" name="Google Shape;734;p20"/>
          <p:cNvSpPr txBox="1"/>
          <p:nvPr/>
        </p:nvSpPr>
        <p:spPr>
          <a:xfrm>
            <a:off x="4270248" y="3878884"/>
            <a:ext cx="691588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Séma- és regex-ellenőrzés ott, ahol egzakt. LLM-as-judge ott, ahol ítélet kell — de a bírót is validálni kell.</a:t>
            </a:r>
            <a:endParaRPr/>
          </a:p>
        </p:txBody>
      </p:sp>
      <p:sp>
        <p:nvSpPr>
          <p:cNvPr id="735" name="Google Shape;735;p20"/>
          <p:cNvSpPr/>
          <p:nvPr/>
        </p:nvSpPr>
        <p:spPr>
          <a:xfrm>
            <a:off x="777240" y="4533595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777240" y="4533595"/>
            <a:ext cx="41148" cy="645566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1033271" y="4682642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0"/>
          <p:cNvSpPr txBox="1"/>
          <p:nvPr/>
        </p:nvSpPr>
        <p:spPr>
          <a:xfrm>
            <a:off x="1033271" y="472379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739" name="Google Shape;739;p20"/>
          <p:cNvSpPr txBox="1"/>
          <p:nvPr/>
        </p:nvSpPr>
        <p:spPr>
          <a:xfrm>
            <a:off x="1527048" y="471007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Futtasd regresszióként</a:t>
            </a:r>
            <a:endParaRPr/>
          </a:p>
        </p:txBody>
      </p:sp>
      <p:sp>
        <p:nvSpPr>
          <p:cNvPr id="740" name="Google Shape;740;p20"/>
          <p:cNvSpPr txBox="1"/>
          <p:nvPr/>
        </p:nvSpPr>
        <p:spPr>
          <a:xfrm>
            <a:off x="4270248" y="4661611"/>
            <a:ext cx="691588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Minden promptváltoztatás előtt-után. A prompt is kód: verziózd, review-zd, ne éles rendszerben szerkeszd.</a:t>
            </a:r>
            <a:endParaRPr/>
          </a:p>
        </p:txBody>
      </p:sp>
      <p:sp>
        <p:nvSpPr>
          <p:cNvPr id="741" name="Google Shape;741;p20"/>
          <p:cNvSpPr/>
          <p:nvPr/>
        </p:nvSpPr>
        <p:spPr>
          <a:xfrm>
            <a:off x="777240" y="5316321"/>
            <a:ext cx="10637489" cy="645566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0"/>
          <p:cNvSpPr/>
          <p:nvPr/>
        </p:nvSpPr>
        <p:spPr>
          <a:xfrm>
            <a:off x="777240" y="5316321"/>
            <a:ext cx="41148" cy="645566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0"/>
          <p:cNvSpPr/>
          <p:nvPr/>
        </p:nvSpPr>
        <p:spPr>
          <a:xfrm>
            <a:off x="1033271" y="5465368"/>
            <a:ext cx="347472" cy="347472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0"/>
          <p:cNvSpPr txBox="1"/>
          <p:nvPr/>
        </p:nvSpPr>
        <p:spPr>
          <a:xfrm>
            <a:off x="1033271" y="550651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45" name="Google Shape;745;p20"/>
          <p:cNvSpPr txBox="1"/>
          <p:nvPr/>
        </p:nvSpPr>
        <p:spPr>
          <a:xfrm>
            <a:off x="1527048" y="549280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Figyelj élesben is</a:t>
            </a:r>
            <a:endParaRPr/>
          </a:p>
        </p:txBody>
      </p:sp>
      <p:sp>
        <p:nvSpPr>
          <p:cNvPr id="746" name="Google Shape;746;p20"/>
          <p:cNvSpPr txBox="1"/>
          <p:nvPr/>
        </p:nvSpPr>
        <p:spPr>
          <a:xfrm>
            <a:off x="4270248" y="5444337"/>
            <a:ext cx="6915881" cy="389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valódi felhasználói kérdések mindig másak, mint a tesztkészlet. A hibás esetek visszakerülnek a tesztek közé.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1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MÉRNÖKI DÖNTÉSEK</a:t>
            </a:r>
            <a:endParaRPr/>
          </a:p>
        </p:txBody>
      </p:sp>
      <p:sp>
        <p:nvSpPr>
          <p:cNvPr id="753" name="Google Shape;753;p21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Költség, latencia, modellválasztás</a:t>
            </a:r>
            <a:endParaRPr/>
          </a:p>
        </p:txBody>
      </p:sp>
      <p:sp>
        <p:nvSpPr>
          <p:cNvPr id="754" name="Google Shape;754;p21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1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1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757" name="Google Shape;757;p21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758" name="Google Shape;758;p21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AI-funkciónál a nem funkcionális követelmények döntenek arról, hogy élesbe mehet-e.</a:t>
            </a:r>
            <a:endParaRPr/>
          </a:p>
        </p:txBody>
      </p:sp>
      <p:sp>
        <p:nvSpPr>
          <p:cNvPr id="759" name="Google Shape;759;p21"/>
          <p:cNvSpPr/>
          <p:nvPr/>
        </p:nvSpPr>
        <p:spPr>
          <a:xfrm>
            <a:off x="777240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777240" y="2185416"/>
            <a:ext cx="41148" cy="1760219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1"/>
          <p:cNvSpPr/>
          <p:nvPr/>
        </p:nvSpPr>
        <p:spPr>
          <a:xfrm>
            <a:off x="1051560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1"/>
          <p:cNvSpPr txBox="1"/>
          <p:nvPr/>
        </p:nvSpPr>
        <p:spPr>
          <a:xfrm>
            <a:off x="1051560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63" name="Google Shape;763;p21"/>
          <p:cNvSpPr txBox="1"/>
          <p:nvPr/>
        </p:nvSpPr>
        <p:spPr>
          <a:xfrm>
            <a:off x="1490472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Nem mindig a legnagyobb</a:t>
            </a:r>
            <a:endParaRPr/>
          </a:p>
        </p:txBody>
      </p:sp>
      <p:sp>
        <p:nvSpPr>
          <p:cNvPr id="764" name="Google Shape;764;p21"/>
          <p:cNvSpPr txBox="1"/>
          <p:nvPr/>
        </p:nvSpPr>
        <p:spPr>
          <a:xfrm>
            <a:off x="1051560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Osztályozás, kinyerés, rövid összefoglaló: kisebb, gyorsabb, olcsóbb modell. A nagyot tartsd a nehéz gondolkodásra.</a:t>
            </a:r>
            <a:endParaRPr/>
          </a:p>
        </p:txBody>
      </p:sp>
      <p:sp>
        <p:nvSpPr>
          <p:cNvPr id="765" name="Google Shape;765;p21"/>
          <p:cNvSpPr/>
          <p:nvPr/>
        </p:nvSpPr>
        <p:spPr>
          <a:xfrm>
            <a:off x="4408413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4408413" y="2185416"/>
            <a:ext cx="41148" cy="1760219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1"/>
          <p:cNvSpPr/>
          <p:nvPr/>
        </p:nvSpPr>
        <p:spPr>
          <a:xfrm>
            <a:off x="4682733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1"/>
          <p:cNvSpPr txBox="1"/>
          <p:nvPr/>
        </p:nvSpPr>
        <p:spPr>
          <a:xfrm>
            <a:off x="4682733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69" name="Google Shape;769;p21"/>
          <p:cNvSpPr txBox="1"/>
          <p:nvPr/>
        </p:nvSpPr>
        <p:spPr>
          <a:xfrm>
            <a:off x="5121645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token pénz és idő</a:t>
            </a:r>
            <a:endParaRPr/>
          </a:p>
        </p:txBody>
      </p:sp>
      <p:sp>
        <p:nvSpPr>
          <p:cNvPr id="770" name="Google Shape;770;p21"/>
          <p:cNvSpPr txBox="1"/>
          <p:nvPr/>
        </p:nvSpPr>
        <p:spPr>
          <a:xfrm>
            <a:off x="4682733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Rövidebb, relevánsabb kontextus = kisebb számla és kisebb késés. A „dobjunk be mindent” a legdrágább stratégia.</a:t>
            </a:r>
            <a:endParaRPr/>
          </a:p>
        </p:txBody>
      </p:sp>
      <p:sp>
        <p:nvSpPr>
          <p:cNvPr id="771" name="Google Shape;771;p21"/>
          <p:cNvSpPr/>
          <p:nvPr/>
        </p:nvSpPr>
        <p:spPr>
          <a:xfrm>
            <a:off x="8039587" y="2185416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1"/>
          <p:cNvSpPr/>
          <p:nvPr/>
        </p:nvSpPr>
        <p:spPr>
          <a:xfrm>
            <a:off x="8039587" y="2185416"/>
            <a:ext cx="41148" cy="1760219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1"/>
          <p:cNvSpPr/>
          <p:nvPr/>
        </p:nvSpPr>
        <p:spPr>
          <a:xfrm>
            <a:off x="8313907" y="245973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1"/>
          <p:cNvSpPr txBox="1"/>
          <p:nvPr/>
        </p:nvSpPr>
        <p:spPr>
          <a:xfrm>
            <a:off x="8313907" y="24917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75" name="Google Shape;775;p21"/>
          <p:cNvSpPr txBox="1"/>
          <p:nvPr/>
        </p:nvSpPr>
        <p:spPr>
          <a:xfrm>
            <a:off x="8752819" y="2496312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Prompt-cache</a:t>
            </a:r>
            <a:endParaRPr/>
          </a:p>
        </p:txBody>
      </p:sp>
      <p:sp>
        <p:nvSpPr>
          <p:cNvPr id="776" name="Google Shape;776;p21"/>
          <p:cNvSpPr txBox="1"/>
          <p:nvPr/>
        </p:nvSpPr>
        <p:spPr>
          <a:xfrm>
            <a:off x="8313907" y="2990088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fix rész (rendszerprompt, dokumentáció, séma) újrahasznosítható. Nagy, ismétlődő kontextusnál drasztikus a különbség.</a:t>
            </a:r>
            <a:endParaRPr/>
          </a:p>
        </p:txBody>
      </p:sp>
      <p:sp>
        <p:nvSpPr>
          <p:cNvPr id="777" name="Google Shape;777;p21"/>
          <p:cNvSpPr/>
          <p:nvPr/>
        </p:nvSpPr>
        <p:spPr>
          <a:xfrm>
            <a:off x="777240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1"/>
          <p:cNvSpPr/>
          <p:nvPr/>
        </p:nvSpPr>
        <p:spPr>
          <a:xfrm>
            <a:off x="777240" y="4201667"/>
            <a:ext cx="41148" cy="1760219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1"/>
          <p:cNvSpPr/>
          <p:nvPr/>
        </p:nvSpPr>
        <p:spPr>
          <a:xfrm>
            <a:off x="1051560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1"/>
          <p:cNvSpPr txBox="1"/>
          <p:nvPr/>
        </p:nvSpPr>
        <p:spPr>
          <a:xfrm>
            <a:off x="1051560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781" name="Google Shape;781;p21"/>
          <p:cNvSpPr txBox="1"/>
          <p:nvPr/>
        </p:nvSpPr>
        <p:spPr>
          <a:xfrm>
            <a:off x="1490472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Streaming</a:t>
            </a:r>
            <a:endParaRPr/>
          </a:p>
        </p:txBody>
      </p:sp>
      <p:sp>
        <p:nvSpPr>
          <p:cNvPr id="782" name="Google Shape;782;p21"/>
          <p:cNvSpPr txBox="1"/>
          <p:nvPr/>
        </p:nvSpPr>
        <p:spPr>
          <a:xfrm>
            <a:off x="1051560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felhasználó nem a teljes időt érzékeli, hanem az első betűig eltelt időt. Ugyanaz a válasz, sokkal jobb élmény.</a:t>
            </a:r>
            <a:endParaRPr/>
          </a:p>
        </p:txBody>
      </p:sp>
      <p:sp>
        <p:nvSpPr>
          <p:cNvPr id="783" name="Google Shape;783;p21"/>
          <p:cNvSpPr/>
          <p:nvPr/>
        </p:nvSpPr>
        <p:spPr>
          <a:xfrm>
            <a:off x="4408413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1"/>
          <p:cNvSpPr/>
          <p:nvPr/>
        </p:nvSpPr>
        <p:spPr>
          <a:xfrm>
            <a:off x="4408413" y="4201667"/>
            <a:ext cx="41148" cy="1760219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1"/>
          <p:cNvSpPr/>
          <p:nvPr/>
        </p:nvSpPr>
        <p:spPr>
          <a:xfrm>
            <a:off x="4682733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1"/>
          <p:cNvSpPr txBox="1"/>
          <p:nvPr/>
        </p:nvSpPr>
        <p:spPr>
          <a:xfrm>
            <a:off x="4682733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87" name="Google Shape;787;p21"/>
          <p:cNvSpPr txBox="1"/>
          <p:nvPr/>
        </p:nvSpPr>
        <p:spPr>
          <a:xfrm>
            <a:off x="5121645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Mérj élesben</a:t>
            </a:r>
            <a:endParaRPr/>
          </a:p>
        </p:txBody>
      </p:sp>
      <p:sp>
        <p:nvSpPr>
          <p:cNvPr id="788" name="Google Shape;788;p21"/>
          <p:cNvSpPr txBox="1"/>
          <p:nvPr/>
        </p:nvSpPr>
        <p:spPr>
          <a:xfrm>
            <a:off x="4682733" y="5006339"/>
            <a:ext cx="282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p95 (95. percentilis) latencia, kérésenkénti költség, hibaarány, retry-arány. Átlagot ne nézz — a rossz élményt a </a:t>
            </a:r>
            <a:r>
              <a:rPr lang="en-US" sz="1100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maximum </a:t>
            </a: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adja.</a:t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>
            <a:off x="8039587" y="4201667"/>
            <a:ext cx="3375141" cy="1760219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1"/>
          <p:cNvSpPr/>
          <p:nvPr/>
        </p:nvSpPr>
        <p:spPr>
          <a:xfrm>
            <a:off x="8039587" y="4201667"/>
            <a:ext cx="41148" cy="1760219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1"/>
          <p:cNvSpPr/>
          <p:nvPr/>
        </p:nvSpPr>
        <p:spPr>
          <a:xfrm>
            <a:off x="8313907" y="4475987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1"/>
          <p:cNvSpPr txBox="1"/>
          <p:nvPr/>
        </p:nvSpPr>
        <p:spPr>
          <a:xfrm>
            <a:off x="8313907" y="4507991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793" name="Google Shape;793;p21"/>
          <p:cNvSpPr txBox="1"/>
          <p:nvPr/>
        </p:nvSpPr>
        <p:spPr>
          <a:xfrm>
            <a:off x="8752819" y="4512563"/>
            <a:ext cx="238758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Legyen B terv</a:t>
            </a:r>
            <a:endParaRPr/>
          </a:p>
        </p:txBody>
      </p:sp>
      <p:sp>
        <p:nvSpPr>
          <p:cNvPr id="794" name="Google Shape;794;p21"/>
          <p:cNvSpPr txBox="1"/>
          <p:nvPr/>
        </p:nvSpPr>
        <p:spPr>
          <a:xfrm>
            <a:off x="8313907" y="5006339"/>
            <a:ext cx="2826501" cy="827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Timeout, retry, fallback kisebb modellre vagy nem-AI útra. A szolgáltatás kiesése nem elméleti lehetőség.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3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3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GYAKORLAT</a:t>
            </a:r>
            <a:endParaRPr/>
          </a:p>
        </p:txBody>
      </p:sp>
      <p:sp>
        <p:nvSpPr>
          <p:cNvPr id="801" name="Google Shape;801;p23"/>
          <p:cNvSpPr txBox="1"/>
          <p:nvPr/>
        </p:nvSpPr>
        <p:spPr>
          <a:xfrm>
            <a:off x="777240" y="749808"/>
            <a:ext cx="1063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napi workflow-</a:t>
            </a:r>
            <a:r>
              <a:rPr b="1" lang="en-US" sz="3200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</a:t>
            </a:r>
            <a:endParaRPr/>
          </a:p>
        </p:txBody>
      </p:sp>
      <p:sp>
        <p:nvSpPr>
          <p:cNvPr id="802" name="Google Shape;802;p23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3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3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805" name="Google Shape;805;p23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/>
          </a:p>
        </p:txBody>
      </p:sp>
      <p:sp>
        <p:nvSpPr>
          <p:cNvPr id="806" name="Google Shape;806;p23"/>
          <p:cNvSpPr txBox="1"/>
          <p:nvPr/>
        </p:nvSpPr>
        <p:spPr>
          <a:xfrm>
            <a:off x="777240" y="1572768"/>
            <a:ext cx="936099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Négy lépés. Ha ebből a negyediket kihagyod, a többi három is értelmetlen.</a:t>
            </a:r>
            <a:endParaRPr/>
          </a:p>
        </p:txBody>
      </p:sp>
      <p:sp>
        <p:nvSpPr>
          <p:cNvPr id="807" name="Google Shape;807;p23"/>
          <p:cNvSpPr/>
          <p:nvPr/>
        </p:nvSpPr>
        <p:spPr>
          <a:xfrm>
            <a:off x="777240" y="2276856"/>
            <a:ext cx="2481064" cy="21762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3"/>
          <p:cNvSpPr/>
          <p:nvPr/>
        </p:nvSpPr>
        <p:spPr>
          <a:xfrm>
            <a:off x="777240" y="2276856"/>
            <a:ext cx="2481064" cy="4572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3"/>
          <p:cNvSpPr txBox="1"/>
          <p:nvPr/>
        </p:nvSpPr>
        <p:spPr>
          <a:xfrm>
            <a:off x="1051560" y="2532888"/>
            <a:ext cx="19324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25F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810" name="Google Shape;810;p23"/>
          <p:cNvSpPr txBox="1"/>
          <p:nvPr/>
        </p:nvSpPr>
        <p:spPr>
          <a:xfrm>
            <a:off x="1051560" y="3026664"/>
            <a:ext cx="1932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Gondold végig magad</a:t>
            </a:r>
            <a:endParaRPr/>
          </a:p>
        </p:txBody>
      </p:sp>
      <p:sp>
        <p:nvSpPr>
          <p:cNvPr id="811" name="Google Shape;811;p23"/>
          <p:cNvSpPr txBox="1"/>
          <p:nvPr/>
        </p:nvSpPr>
        <p:spPr>
          <a:xfrm>
            <a:off x="1051560" y="3410712"/>
            <a:ext cx="1932424" cy="89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Két perc tervezés a prompt előtt. Ha te nem tudod, mit akarsz, a modell sem fogja kitalálni.</a:t>
            </a:r>
            <a:endParaRPr/>
          </a:p>
        </p:txBody>
      </p:sp>
      <p:sp>
        <p:nvSpPr>
          <p:cNvPr id="812" name="Google Shape;812;p23"/>
          <p:cNvSpPr/>
          <p:nvPr/>
        </p:nvSpPr>
        <p:spPr>
          <a:xfrm>
            <a:off x="3496048" y="2276856"/>
            <a:ext cx="2481064" cy="21762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3"/>
          <p:cNvSpPr/>
          <p:nvPr/>
        </p:nvSpPr>
        <p:spPr>
          <a:xfrm>
            <a:off x="3496048" y="2276856"/>
            <a:ext cx="2481064" cy="4572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3"/>
          <p:cNvSpPr txBox="1"/>
          <p:nvPr/>
        </p:nvSpPr>
        <p:spPr>
          <a:xfrm>
            <a:off x="3770368" y="2532888"/>
            <a:ext cx="19324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25F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815" name="Google Shape;815;p23"/>
          <p:cNvSpPr txBox="1"/>
          <p:nvPr/>
        </p:nvSpPr>
        <p:spPr>
          <a:xfrm>
            <a:off x="3770368" y="3026664"/>
            <a:ext cx="1932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meg a kontextust</a:t>
            </a:r>
            <a:endParaRPr/>
          </a:p>
        </p:txBody>
      </p:sp>
      <p:sp>
        <p:nvSpPr>
          <p:cNvPr id="816" name="Google Shape;816;p23"/>
          <p:cNvSpPr txBox="1"/>
          <p:nvPr/>
        </p:nvSpPr>
        <p:spPr>
          <a:xfrm>
            <a:off x="3770368" y="3410712"/>
            <a:ext cx="1932424" cy="89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Érintett fájl, hibalog, verziók, megkötések. Ez a lépés dönti el a válasz minőségét.</a:t>
            </a:r>
            <a:endParaRPr/>
          </a:p>
        </p:txBody>
      </p:sp>
      <p:sp>
        <p:nvSpPr>
          <p:cNvPr id="817" name="Google Shape;817;p23"/>
          <p:cNvSpPr/>
          <p:nvPr/>
        </p:nvSpPr>
        <p:spPr>
          <a:xfrm>
            <a:off x="6214856" y="2276856"/>
            <a:ext cx="2481064" cy="21762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3"/>
          <p:cNvSpPr/>
          <p:nvPr/>
        </p:nvSpPr>
        <p:spPr>
          <a:xfrm>
            <a:off x="6214856" y="2276856"/>
            <a:ext cx="2481064" cy="4572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3"/>
          <p:cNvSpPr txBox="1"/>
          <p:nvPr/>
        </p:nvSpPr>
        <p:spPr>
          <a:xfrm>
            <a:off x="6489176" y="2532888"/>
            <a:ext cx="19324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25F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820" name="Google Shape;820;p23"/>
          <p:cNvSpPr txBox="1"/>
          <p:nvPr/>
        </p:nvSpPr>
        <p:spPr>
          <a:xfrm>
            <a:off x="6489176" y="3026664"/>
            <a:ext cx="1932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Kérj kicsit</a:t>
            </a:r>
            <a:endParaRPr/>
          </a:p>
        </p:txBody>
      </p:sp>
      <p:sp>
        <p:nvSpPr>
          <p:cNvPr id="821" name="Google Shape;821;p23"/>
          <p:cNvSpPr txBox="1"/>
          <p:nvPr/>
        </p:nvSpPr>
        <p:spPr>
          <a:xfrm>
            <a:off x="6489176" y="3410712"/>
            <a:ext cx="1932424" cy="89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lépés, egy fájl, egy függvény. Nagy kérésre nagy, átláthatatlan válasz jön.</a:t>
            </a:r>
            <a:endParaRPr/>
          </a:p>
        </p:txBody>
      </p:sp>
      <p:sp>
        <p:nvSpPr>
          <p:cNvPr id="822" name="Google Shape;822;p23"/>
          <p:cNvSpPr/>
          <p:nvPr/>
        </p:nvSpPr>
        <p:spPr>
          <a:xfrm>
            <a:off x="8933665" y="2276856"/>
            <a:ext cx="2481064" cy="2176271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3"/>
          <p:cNvSpPr/>
          <p:nvPr/>
        </p:nvSpPr>
        <p:spPr>
          <a:xfrm>
            <a:off x="8933665" y="2276856"/>
            <a:ext cx="2481064" cy="4572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3"/>
          <p:cNvSpPr txBox="1"/>
          <p:nvPr/>
        </p:nvSpPr>
        <p:spPr>
          <a:xfrm>
            <a:off x="9207985" y="2532888"/>
            <a:ext cx="19324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25F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825" name="Google Shape;825;p23"/>
          <p:cNvSpPr txBox="1"/>
          <p:nvPr/>
        </p:nvSpPr>
        <p:spPr>
          <a:xfrm>
            <a:off x="9207985" y="3026664"/>
            <a:ext cx="1932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Olvasd el, majd futtasd</a:t>
            </a:r>
            <a:endParaRPr/>
          </a:p>
        </p:txBody>
      </p:sp>
      <p:sp>
        <p:nvSpPr>
          <p:cNvPr id="826" name="Google Shape;826;p23"/>
          <p:cNvSpPr txBox="1"/>
          <p:nvPr/>
        </p:nvSpPr>
        <p:spPr>
          <a:xfrm>
            <a:off x="9207985" y="3410712"/>
            <a:ext cx="1932424" cy="89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Teszt, lint, saját szem. A commit alatt a te neved lesz, nem a modellé.</a:t>
            </a:r>
            <a:endParaRPr/>
          </a:p>
        </p:txBody>
      </p:sp>
      <p:sp>
        <p:nvSpPr>
          <p:cNvPr id="827" name="Google Shape;827;p23"/>
          <p:cNvSpPr/>
          <p:nvPr/>
        </p:nvSpPr>
        <p:spPr>
          <a:xfrm>
            <a:off x="777240" y="4590288"/>
            <a:ext cx="10637489" cy="1371600"/>
          </a:xfrm>
          <a:prstGeom prst="roundRect">
            <a:avLst>
              <a:gd fmla="val 5500" name="adj"/>
            </a:avLst>
          </a:prstGeom>
          <a:solidFill>
            <a:srgbClr val="22252D"/>
          </a:solidFill>
          <a:ln cap="flat" cmpd="sng" w="9525">
            <a:solidFill>
              <a:srgbClr val="6A6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3"/>
          <p:cNvSpPr txBox="1"/>
          <p:nvPr/>
        </p:nvSpPr>
        <p:spPr>
          <a:xfrm>
            <a:off x="1106424" y="4828031"/>
            <a:ext cx="997912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HÁROM TIPP, AMI SOK IDŐT MEGSPÓROL</a:t>
            </a:r>
            <a:endParaRPr/>
          </a:p>
        </p:txBody>
      </p:sp>
      <p:sp>
        <p:nvSpPr>
          <p:cNvPr id="829" name="Google Shape;829;p23"/>
          <p:cNvSpPr txBox="1"/>
          <p:nvPr/>
        </p:nvSpPr>
        <p:spPr>
          <a:xfrm>
            <a:off x="1106424" y="515721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</a:t>
            </a:r>
            <a:endParaRPr/>
          </a:p>
        </p:txBody>
      </p:sp>
      <p:sp>
        <p:nvSpPr>
          <p:cNvPr id="830" name="Google Shape;830;p23"/>
          <p:cNvSpPr txBox="1"/>
          <p:nvPr/>
        </p:nvSpPr>
        <p:spPr>
          <a:xfrm>
            <a:off x="1307592" y="5157216"/>
            <a:ext cx="97230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 kétszer nem sikerült, ne promptolj harmadszorra — nyisd meg a dokumentációt.</a:t>
            </a:r>
            <a:endParaRPr/>
          </a:p>
        </p:txBody>
      </p:sp>
      <p:sp>
        <p:nvSpPr>
          <p:cNvPr id="831" name="Google Shape;831;p23"/>
          <p:cNvSpPr txBox="1"/>
          <p:nvPr/>
        </p:nvSpPr>
        <p:spPr>
          <a:xfrm>
            <a:off x="1106424" y="543153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</a:t>
            </a:r>
            <a:endParaRPr/>
          </a:p>
        </p:txBody>
      </p:sp>
      <p:sp>
        <p:nvSpPr>
          <p:cNvPr id="832" name="Google Shape;832;p23"/>
          <p:cNvSpPr txBox="1"/>
          <p:nvPr/>
        </p:nvSpPr>
        <p:spPr>
          <a:xfrm>
            <a:off x="1307592" y="5431536"/>
            <a:ext cx="97230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Kérdezz rá arra is, amit nem tudsz: „mit kellene még megkérdeznem erről?”</a:t>
            </a:r>
            <a:endParaRPr/>
          </a:p>
        </p:txBody>
      </p:sp>
      <p:sp>
        <p:nvSpPr>
          <p:cNvPr id="833" name="Google Shape;833;p23"/>
          <p:cNvSpPr txBox="1"/>
          <p:nvPr/>
        </p:nvSpPr>
        <p:spPr>
          <a:xfrm>
            <a:off x="1106424" y="5705855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C4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</a:t>
            </a:r>
            <a:endParaRPr/>
          </a:p>
        </p:txBody>
      </p:sp>
      <p:sp>
        <p:nvSpPr>
          <p:cNvPr id="834" name="Google Shape;834;p23"/>
          <p:cNvSpPr txBox="1"/>
          <p:nvPr/>
        </p:nvSpPr>
        <p:spPr>
          <a:xfrm>
            <a:off x="1307592" y="5705855"/>
            <a:ext cx="97230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939F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 nem érted a választ, ne commitold. Kérdezz vissza, vagy kérdezz egy embert.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4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4"/>
          <p:cNvSpPr txBox="1"/>
          <p:nvPr/>
        </p:nvSpPr>
        <p:spPr>
          <a:xfrm>
            <a:off x="777240" y="475488"/>
            <a:ext cx="106374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ÖSSZEFOGLALÓ</a:t>
            </a:r>
            <a:endParaRPr/>
          </a:p>
        </p:txBody>
      </p:sp>
      <p:sp>
        <p:nvSpPr>
          <p:cNvPr id="841" name="Google Shape;841;p24"/>
          <p:cNvSpPr txBox="1"/>
          <p:nvPr/>
        </p:nvSpPr>
        <p:spPr>
          <a:xfrm>
            <a:off x="777240" y="749808"/>
            <a:ext cx="1063748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Tíz szabály, amit vigyél magaddal</a:t>
            </a:r>
            <a:endParaRPr/>
          </a:p>
        </p:txBody>
      </p:sp>
      <p:sp>
        <p:nvSpPr>
          <p:cNvPr id="842" name="Google Shape;842;p24"/>
          <p:cNvSpPr/>
          <p:nvPr/>
        </p:nvSpPr>
        <p:spPr>
          <a:xfrm>
            <a:off x="777240" y="1371600"/>
            <a:ext cx="566928" cy="41148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4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4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845" name="Google Shape;845;p24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846" name="Google Shape;846;p24"/>
          <p:cNvSpPr/>
          <p:nvPr/>
        </p:nvSpPr>
        <p:spPr>
          <a:xfrm>
            <a:off x="777240" y="2167128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4"/>
          <p:cNvSpPr/>
          <p:nvPr/>
        </p:nvSpPr>
        <p:spPr>
          <a:xfrm>
            <a:off x="777240" y="2167128"/>
            <a:ext cx="41148" cy="60350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4"/>
          <p:cNvSpPr/>
          <p:nvPr/>
        </p:nvSpPr>
        <p:spPr>
          <a:xfrm>
            <a:off x="1014983" y="2304288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4"/>
          <p:cNvSpPr txBox="1"/>
          <p:nvPr/>
        </p:nvSpPr>
        <p:spPr>
          <a:xfrm>
            <a:off x="1014983" y="2336292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50" name="Google Shape;850;p24"/>
          <p:cNvSpPr txBox="1"/>
          <p:nvPr/>
        </p:nvSpPr>
        <p:spPr>
          <a:xfrm>
            <a:off x="1472184" y="2295144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kódért te felelsz, nem a modell.</a:t>
            </a:r>
            <a:endParaRPr/>
          </a:p>
        </p:txBody>
      </p:sp>
      <p:sp>
        <p:nvSpPr>
          <p:cNvPr id="851" name="Google Shape;851;p24"/>
          <p:cNvSpPr/>
          <p:nvPr/>
        </p:nvSpPr>
        <p:spPr>
          <a:xfrm>
            <a:off x="777240" y="2880360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2172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4"/>
          <p:cNvSpPr/>
          <p:nvPr/>
        </p:nvSpPr>
        <p:spPr>
          <a:xfrm>
            <a:off x="777240" y="2880360"/>
            <a:ext cx="41148" cy="603504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4"/>
          <p:cNvSpPr/>
          <p:nvPr/>
        </p:nvSpPr>
        <p:spPr>
          <a:xfrm>
            <a:off x="1014983" y="3017520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4"/>
          <p:cNvSpPr txBox="1"/>
          <p:nvPr/>
        </p:nvSpPr>
        <p:spPr>
          <a:xfrm>
            <a:off x="1014983" y="304952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55" name="Google Shape;855;p24"/>
          <p:cNvSpPr txBox="1"/>
          <p:nvPr/>
        </p:nvSpPr>
        <p:spPr>
          <a:xfrm>
            <a:off x="1472184" y="3008376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Amit nem értesz, azt ne commitold.</a:t>
            </a:r>
            <a:endParaRPr/>
          </a:p>
        </p:txBody>
      </p:sp>
      <p:sp>
        <p:nvSpPr>
          <p:cNvPr id="856" name="Google Shape;856;p24"/>
          <p:cNvSpPr/>
          <p:nvPr/>
        </p:nvSpPr>
        <p:spPr>
          <a:xfrm>
            <a:off x="777240" y="3593592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4"/>
          <p:cNvSpPr/>
          <p:nvPr/>
        </p:nvSpPr>
        <p:spPr>
          <a:xfrm>
            <a:off x="777240" y="3593592"/>
            <a:ext cx="41148" cy="603504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4"/>
          <p:cNvSpPr/>
          <p:nvPr/>
        </p:nvSpPr>
        <p:spPr>
          <a:xfrm>
            <a:off x="1014983" y="3730752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4"/>
          <p:cNvSpPr txBox="1"/>
          <p:nvPr/>
        </p:nvSpPr>
        <p:spPr>
          <a:xfrm>
            <a:off x="1014983" y="3762756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60" name="Google Shape;860;p24"/>
          <p:cNvSpPr txBox="1"/>
          <p:nvPr/>
        </p:nvSpPr>
        <p:spPr>
          <a:xfrm>
            <a:off x="1472184" y="3721608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kontextus fontosabb, mint a megfogalmazás.</a:t>
            </a:r>
            <a:endParaRPr/>
          </a:p>
        </p:txBody>
      </p:sp>
      <p:sp>
        <p:nvSpPr>
          <p:cNvPr id="861" name="Google Shape;861;p24"/>
          <p:cNvSpPr/>
          <p:nvPr/>
        </p:nvSpPr>
        <p:spPr>
          <a:xfrm>
            <a:off x="777240" y="4306824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2172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4"/>
          <p:cNvSpPr/>
          <p:nvPr/>
        </p:nvSpPr>
        <p:spPr>
          <a:xfrm>
            <a:off x="777240" y="4306824"/>
            <a:ext cx="41148" cy="603504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4"/>
          <p:cNvSpPr/>
          <p:nvPr/>
        </p:nvSpPr>
        <p:spPr>
          <a:xfrm>
            <a:off x="1014983" y="4443984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4"/>
          <p:cNvSpPr txBox="1"/>
          <p:nvPr/>
        </p:nvSpPr>
        <p:spPr>
          <a:xfrm>
            <a:off x="1014983" y="447598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65" name="Google Shape;865;p24"/>
          <p:cNvSpPr txBox="1"/>
          <p:nvPr/>
        </p:nvSpPr>
        <p:spPr>
          <a:xfrm>
            <a:off x="1472184" y="4434840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Egy prompt = egy feladat.</a:t>
            </a:r>
            <a:endParaRPr/>
          </a:p>
        </p:txBody>
      </p:sp>
      <p:sp>
        <p:nvSpPr>
          <p:cNvPr id="866" name="Google Shape;866;p24"/>
          <p:cNvSpPr/>
          <p:nvPr/>
        </p:nvSpPr>
        <p:spPr>
          <a:xfrm>
            <a:off x="777240" y="5020056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4"/>
          <p:cNvSpPr/>
          <p:nvPr/>
        </p:nvSpPr>
        <p:spPr>
          <a:xfrm>
            <a:off x="777240" y="5020056"/>
            <a:ext cx="41148" cy="603504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4"/>
          <p:cNvSpPr/>
          <p:nvPr/>
        </p:nvSpPr>
        <p:spPr>
          <a:xfrm>
            <a:off x="1014983" y="515721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4"/>
          <p:cNvSpPr txBox="1"/>
          <p:nvPr/>
        </p:nvSpPr>
        <p:spPr>
          <a:xfrm>
            <a:off x="1014983" y="518922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870" name="Google Shape;870;p24"/>
          <p:cNvSpPr txBox="1"/>
          <p:nvPr/>
        </p:nvSpPr>
        <p:spPr>
          <a:xfrm>
            <a:off x="1472184" y="5148072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Kérdezz rá a hátrányra is, ne csak a megoldásra.</a:t>
            </a:r>
            <a:endParaRPr/>
          </a:p>
        </p:txBody>
      </p:sp>
      <p:sp>
        <p:nvSpPr>
          <p:cNvPr id="871" name="Google Shape;871;p24"/>
          <p:cNvSpPr/>
          <p:nvPr/>
        </p:nvSpPr>
        <p:spPr>
          <a:xfrm>
            <a:off x="6278864" y="2167128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2172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4"/>
          <p:cNvSpPr/>
          <p:nvPr/>
        </p:nvSpPr>
        <p:spPr>
          <a:xfrm>
            <a:off x="6278864" y="2167128"/>
            <a:ext cx="41148" cy="60350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4"/>
          <p:cNvSpPr/>
          <p:nvPr/>
        </p:nvSpPr>
        <p:spPr>
          <a:xfrm>
            <a:off x="6516608" y="2304288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4"/>
          <p:cNvSpPr txBox="1"/>
          <p:nvPr/>
        </p:nvSpPr>
        <p:spPr>
          <a:xfrm>
            <a:off x="6516608" y="2336292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875" name="Google Shape;875;p24"/>
          <p:cNvSpPr txBox="1"/>
          <p:nvPr/>
        </p:nvSpPr>
        <p:spPr>
          <a:xfrm>
            <a:off x="6973808" y="2295144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Verziószámot mindig adj meg.</a:t>
            </a:r>
            <a:endParaRPr/>
          </a:p>
        </p:txBody>
      </p:sp>
      <p:sp>
        <p:nvSpPr>
          <p:cNvPr id="876" name="Google Shape;876;p24"/>
          <p:cNvSpPr/>
          <p:nvPr/>
        </p:nvSpPr>
        <p:spPr>
          <a:xfrm>
            <a:off x="6278864" y="2880360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4"/>
          <p:cNvSpPr/>
          <p:nvPr/>
        </p:nvSpPr>
        <p:spPr>
          <a:xfrm>
            <a:off x="6278864" y="2880360"/>
            <a:ext cx="41148" cy="603504"/>
          </a:xfrm>
          <a:prstGeom prst="rect">
            <a:avLst/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4"/>
          <p:cNvSpPr/>
          <p:nvPr/>
        </p:nvSpPr>
        <p:spPr>
          <a:xfrm>
            <a:off x="6516608" y="3017520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EE0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4"/>
          <p:cNvSpPr txBox="1"/>
          <p:nvPr/>
        </p:nvSpPr>
        <p:spPr>
          <a:xfrm>
            <a:off x="6516608" y="304952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880" name="Google Shape;880;p24"/>
          <p:cNvSpPr txBox="1"/>
          <p:nvPr/>
        </p:nvSpPr>
        <p:spPr>
          <a:xfrm>
            <a:off x="6973808" y="3008376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Titkot és éles adatot ne tegyél promptba.</a:t>
            </a:r>
            <a:endParaRPr/>
          </a:p>
        </p:txBody>
      </p:sp>
      <p:sp>
        <p:nvSpPr>
          <p:cNvPr id="881" name="Google Shape;881;p24"/>
          <p:cNvSpPr/>
          <p:nvPr/>
        </p:nvSpPr>
        <p:spPr>
          <a:xfrm>
            <a:off x="6278864" y="3593592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2172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4"/>
          <p:cNvSpPr/>
          <p:nvPr/>
        </p:nvSpPr>
        <p:spPr>
          <a:xfrm>
            <a:off x="6278864" y="3593592"/>
            <a:ext cx="41148" cy="603504"/>
          </a:xfrm>
          <a:prstGeom prst="rect">
            <a:avLst/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4"/>
          <p:cNvSpPr/>
          <p:nvPr/>
        </p:nvSpPr>
        <p:spPr>
          <a:xfrm>
            <a:off x="6516608" y="3730752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A6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4"/>
          <p:cNvSpPr txBox="1"/>
          <p:nvPr/>
        </p:nvSpPr>
        <p:spPr>
          <a:xfrm>
            <a:off x="6516608" y="3762756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885" name="Google Shape;885;p24"/>
          <p:cNvSpPr txBox="1"/>
          <p:nvPr/>
        </p:nvSpPr>
        <p:spPr>
          <a:xfrm>
            <a:off x="6973808" y="3721608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 nem mérsz, nem tudod, hogy jobb lett-e.</a:t>
            </a:r>
            <a:endParaRPr/>
          </a:p>
        </p:txBody>
      </p:sp>
      <p:sp>
        <p:nvSpPr>
          <p:cNvPr id="886" name="Google Shape;886;p24"/>
          <p:cNvSpPr/>
          <p:nvPr/>
        </p:nvSpPr>
        <p:spPr>
          <a:xfrm>
            <a:off x="6278864" y="4306824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61D2B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4"/>
          <p:cNvSpPr/>
          <p:nvPr/>
        </p:nvSpPr>
        <p:spPr>
          <a:xfrm>
            <a:off x="6278864" y="4306824"/>
            <a:ext cx="41148" cy="603504"/>
          </a:xfrm>
          <a:prstGeom prst="rect">
            <a:avLst/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4"/>
          <p:cNvSpPr/>
          <p:nvPr/>
        </p:nvSpPr>
        <p:spPr>
          <a:xfrm>
            <a:off x="6516608" y="4443984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5C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4"/>
          <p:cNvSpPr txBox="1"/>
          <p:nvPr/>
        </p:nvSpPr>
        <p:spPr>
          <a:xfrm>
            <a:off x="6516608" y="447598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890" name="Google Shape;890;p24"/>
          <p:cNvSpPr txBox="1"/>
          <p:nvPr/>
        </p:nvSpPr>
        <p:spPr>
          <a:xfrm>
            <a:off x="6973808" y="4434840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 AI vázlatot ír, nem terméket.</a:t>
            </a:r>
            <a:endParaRPr/>
          </a:p>
        </p:txBody>
      </p:sp>
      <p:sp>
        <p:nvSpPr>
          <p:cNvPr id="891" name="Google Shape;891;p24"/>
          <p:cNvSpPr/>
          <p:nvPr/>
        </p:nvSpPr>
        <p:spPr>
          <a:xfrm>
            <a:off x="6278864" y="5020056"/>
            <a:ext cx="5135864" cy="603504"/>
          </a:xfrm>
          <a:prstGeom prst="roundRect">
            <a:avLst>
              <a:gd fmla="val 5500" name="adj"/>
            </a:avLst>
          </a:prstGeom>
          <a:solidFill>
            <a:srgbClr val="121723"/>
          </a:solidFill>
          <a:ln cap="flat" cmpd="sng" w="9525">
            <a:solidFill>
              <a:srgbClr val="2A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4"/>
          <p:cNvSpPr/>
          <p:nvPr/>
        </p:nvSpPr>
        <p:spPr>
          <a:xfrm>
            <a:off x="6278864" y="5020056"/>
            <a:ext cx="41148" cy="603504"/>
          </a:xfrm>
          <a:prstGeom prst="rect">
            <a:avLst/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4"/>
          <p:cNvSpPr/>
          <p:nvPr/>
        </p:nvSpPr>
        <p:spPr>
          <a:xfrm>
            <a:off x="6516608" y="5157216"/>
            <a:ext cx="329184" cy="329184"/>
          </a:xfrm>
          <a:prstGeom prst="roundRect">
            <a:avLst>
              <a:gd fmla="val 30000" name="adj"/>
            </a:avLst>
          </a:prstGeom>
          <a:solidFill>
            <a:srgbClr val="FFC4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4"/>
          <p:cNvSpPr txBox="1"/>
          <p:nvPr/>
        </p:nvSpPr>
        <p:spPr>
          <a:xfrm>
            <a:off x="6516608" y="518922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0F1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895" name="Google Shape;895;p24"/>
          <p:cNvSpPr txBox="1"/>
          <p:nvPr/>
        </p:nvSpPr>
        <p:spPr>
          <a:xfrm>
            <a:off x="6973808" y="5148072"/>
            <a:ext cx="4175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tanulást nem lehet kiszervezni.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6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solidFill>
            <a:srgbClr val="0B0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6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>
            <a:gsLst>
              <a:gs pos="0">
                <a:srgbClr val="080B12"/>
              </a:gs>
              <a:gs pos="100000">
                <a:srgbClr val="16122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6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61B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6"/>
          <p:cNvSpPr/>
          <p:nvPr/>
        </p:nvSpPr>
        <p:spPr>
          <a:xfrm>
            <a:off x="-1280160" y="4206240"/>
            <a:ext cx="4389120" cy="4389120"/>
          </a:xfrm>
          <a:prstGeom prst="ellipse">
            <a:avLst/>
          </a:prstGeom>
          <a:solidFill>
            <a:srgbClr val="1A1B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6"/>
          <p:cNvSpPr txBox="1"/>
          <p:nvPr/>
        </p:nvSpPr>
        <p:spPr>
          <a:xfrm>
            <a:off x="777240" y="1554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7A5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VÉGE</a:t>
            </a:r>
            <a:endParaRPr/>
          </a:p>
        </p:txBody>
      </p:sp>
      <p:sp>
        <p:nvSpPr>
          <p:cNvPr id="906" name="Google Shape;906;p26"/>
          <p:cNvSpPr txBox="1"/>
          <p:nvPr/>
        </p:nvSpPr>
        <p:spPr>
          <a:xfrm>
            <a:off x="777240" y="192024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Kérdések?</a:t>
            </a:r>
            <a:endParaRPr/>
          </a:p>
        </p:txBody>
      </p:sp>
      <p:sp>
        <p:nvSpPr>
          <p:cNvPr id="907" name="Google Shape;907;p26"/>
          <p:cNvSpPr/>
          <p:nvPr/>
        </p:nvSpPr>
        <p:spPr>
          <a:xfrm>
            <a:off x="777240" y="3291840"/>
            <a:ext cx="1005840" cy="50292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6"/>
          <p:cNvSpPr txBox="1"/>
          <p:nvPr/>
        </p:nvSpPr>
        <p:spPr>
          <a:xfrm>
            <a:off x="777240" y="3611880"/>
            <a:ext cx="8778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1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„Az AI nem azt váltja ki, hogy értsd a rendszert.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100" u="none" cap="none" strike="noStrike">
                <a:solidFill>
                  <a:srgbClr val="F3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Épp azt teszi a legértékesebbé.”</a:t>
            </a:r>
            <a:endParaRPr/>
          </a:p>
        </p:txBody>
      </p:sp>
      <p:sp>
        <p:nvSpPr>
          <p:cNvPr id="909" name="Google Shape;909;p26"/>
          <p:cNvSpPr/>
          <p:nvPr/>
        </p:nvSpPr>
        <p:spPr>
          <a:xfrm>
            <a:off x="777240" y="6199632"/>
            <a:ext cx="10637489" cy="10972"/>
          </a:xfrm>
          <a:prstGeom prst="rect">
            <a:avLst/>
          </a:prstGeom>
          <a:solidFill>
            <a:srgbClr val="273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6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AI-alapú fejlesztés · szakmai gyakorlat</a:t>
            </a:r>
            <a:endParaRPr/>
          </a:p>
        </p:txBody>
      </p:sp>
      <p:sp>
        <p:nvSpPr>
          <p:cNvPr id="911" name="Google Shape;911;p26"/>
          <p:cNvSpPr txBox="1"/>
          <p:nvPr/>
        </p:nvSpPr>
        <p:spPr>
          <a:xfrm>
            <a:off x="10500329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7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Bencsik Mátyás</dc:creator>
</cp:coreProperties>
</file>